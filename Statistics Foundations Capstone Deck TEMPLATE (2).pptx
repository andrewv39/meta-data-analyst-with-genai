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Ex1.xml" ContentType="application/vnd.ms-office.chartex+xml"/>
  <Override PartName="/ppt/charts/style1.xml" ContentType="application/vnd.ms-office.chartstyle+xml"/>
  <Override PartName="/ppt/charts/colors1.xml" ContentType="application/vnd.ms-office.chartcolorstyle+xml"/>
  <Override PartName="/ppt/charts/chartEx2.xml" ContentType="application/vnd.ms-office.chartex+xml"/>
  <Override PartName="/ppt/charts/style2.xml" ContentType="application/vnd.ms-office.chartstyle+xml"/>
  <Override PartName="/ppt/charts/colors2.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0"/>
  </p:notesMasterIdLst>
  <p:sldIdLst>
    <p:sldId id="257" r:id="rId2"/>
    <p:sldId id="258" r:id="rId3"/>
    <p:sldId id="259" r:id="rId4"/>
    <p:sldId id="260" r:id="rId5"/>
    <p:sldId id="261" r:id="rId6"/>
    <p:sldId id="262" r:id="rId7"/>
    <p:sldId id="264" r:id="rId8"/>
    <p:sldId id="265" r:id="rId9"/>
    <p:sldId id="266" r:id="rId10"/>
    <p:sldId id="268" r:id="rId11"/>
    <p:sldId id="269" r:id="rId12"/>
    <p:sldId id="270" r:id="rId13"/>
    <p:sldId id="271" r:id="rId14"/>
    <p:sldId id="273" r:id="rId15"/>
    <p:sldId id="274" r:id="rId16"/>
    <p:sldId id="277" r:id="rId17"/>
    <p:sldId id="278" r:id="rId18"/>
    <p:sldId id="276" r:id="rId19"/>
  </p:sldIdLst>
  <p:sldSz cx="9144000" cy="5143500" type="screen16x9"/>
  <p:notesSz cx="6858000" cy="9144000"/>
  <p:embeddedFontLst>
    <p:embeddedFont>
      <p:font typeface="Century Gothic" panose="020B0502020202020204" pitchFamily="34" charset="0"/>
      <p:regular r:id="rId21"/>
      <p:bold r:id="rId22"/>
      <p:italic r:id="rId23"/>
      <p:boldItalic r:id="rId24"/>
    </p:embeddedFont>
    <p:embeddedFont>
      <p:font typeface="DM Sans" pitchFamily="2"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8" d="100"/>
          <a:sy n="128" d="100"/>
        </p:scale>
        <p:origin x="1134" y="33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viewProps" Target="viewProps.xml"/></Relationships>
</file>

<file path=ppt/charts/_rels/chartEx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file:///C:\Users\verho\Downloads\Capstone%20Dataset%20(2).xlsx" TargetMode="External"/></Relationships>
</file>

<file path=ppt/charts/_rels/chartEx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oleObject" Target="file:///C:\Users\verho\Downloads\Capstone%20Dataset%20(2).xlsx" TargetMode="External"/></Relationships>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'Capstone Dataset'!$L$2:$L$366</cx:f>
        <cx:lvl ptCount="365" formatCode="Основной">
          <cx:pt idx="0">59</cx:pt>
          <cx:pt idx="1">71</cx:pt>
          <cx:pt idx="2">44</cx:pt>
          <cx:pt idx="3">49</cx:pt>
          <cx:pt idx="4">55</cx:pt>
          <cx:pt idx="5">51</cx:pt>
          <cx:pt idx="6">66</cx:pt>
          <cx:pt idx="7">69</cx:pt>
          <cx:pt idx="8">82</cx:pt>
          <cx:pt idx="9">48</cx:pt>
          <cx:pt idx="10">58</cx:pt>
          <cx:pt idx="11">68</cx:pt>
          <cx:pt idx="12">83</cx:pt>
          <cx:pt idx="13">78</cx:pt>
          <cx:pt idx="14">36</cx:pt>
          <cx:pt idx="15">48</cx:pt>
          <cx:pt idx="16">52</cx:pt>
          <cx:pt idx="17">49</cx:pt>
          <cx:pt idx="18">68</cx:pt>
          <cx:pt idx="19">81</cx:pt>
          <cx:pt idx="20">49</cx:pt>
          <cx:pt idx="21">43</cx:pt>
          <cx:pt idx="22">63</cx:pt>
          <cx:pt idx="23">80</cx:pt>
          <cx:pt idx="24">50</cx:pt>
          <cx:pt idx="25">53</cx:pt>
          <cx:pt idx="26">77</cx:pt>
          <cx:pt idx="27">44</cx:pt>
          <cx:pt idx="28">78</cx:pt>
          <cx:pt idx="29">42</cx:pt>
          <cx:pt idx="30">50</cx:pt>
          <cx:pt idx="31">72</cx:pt>
          <cx:pt idx="32">76</cx:pt>
          <cx:pt idx="33">41</cx:pt>
          <cx:pt idx="34">49</cx:pt>
          <cx:pt idx="35">78</cx:pt>
          <cx:pt idx="36">69</cx:pt>
          <cx:pt idx="37">58</cx:pt>
          <cx:pt idx="38">48</cx:pt>
          <cx:pt idx="39">44</cx:pt>
          <cx:pt idx="40">43</cx:pt>
          <cx:pt idx="41">71</cx:pt>
          <cx:pt idx="42">74</cx:pt>
          <cx:pt idx="43">74</cx:pt>
          <cx:pt idx="44">80</cx:pt>
          <cx:pt idx="45">40</cx:pt>
          <cx:pt idx="46">63</cx:pt>
          <cx:pt idx="47">36</cx:pt>
          <cx:pt idx="48">74</cx:pt>
          <cx:pt idx="49">62</cx:pt>
          <cx:pt idx="50">67</cx:pt>
          <cx:pt idx="51">64</cx:pt>
          <cx:pt idx="52">61</cx:pt>
          <cx:pt idx="53">74</cx:pt>
          <cx:pt idx="54">71</cx:pt>
          <cx:pt idx="55">52</cx:pt>
          <cx:pt idx="56">66</cx:pt>
          <cx:pt idx="57">47</cx:pt>
          <cx:pt idx="58">32</cx:pt>
          <cx:pt idx="59">68</cx:pt>
          <cx:pt idx="60">51</cx:pt>
          <cx:pt idx="61">42</cx:pt>
          <cx:pt idx="62">50</cx:pt>
          <cx:pt idx="63">56</cx:pt>
          <cx:pt idx="64">71</cx:pt>
          <cx:pt idx="65">33</cx:pt>
          <cx:pt idx="66">70</cx:pt>
          <cx:pt idx="67">33</cx:pt>
          <cx:pt idx="68">62</cx:pt>
          <cx:pt idx="69">87</cx:pt>
          <cx:pt idx="70">65</cx:pt>
          <cx:pt idx="71">60</cx:pt>
          <cx:pt idx="72">44</cx:pt>
          <cx:pt idx="73">66</cx:pt>
          <cx:pt idx="74">58</cx:pt>
          <cx:pt idx="75">54</cx:pt>
          <cx:pt idx="76">70</cx:pt>
          <cx:pt idx="77">45</cx:pt>
          <cx:pt idx="78">34</cx:pt>
          <cx:pt idx="79">41</cx:pt>
          <cx:pt idx="80">66</cx:pt>
          <cx:pt idx="81">55</cx:pt>
          <cx:pt idx="82">78</cx:pt>
          <cx:pt idx="83">41</cx:pt>
          <cx:pt idx="84">68</cx:pt>
          <cx:pt idx="85">74</cx:pt>
          <cx:pt idx="86">62</cx:pt>
          <cx:pt idx="87">40</cx:pt>
          <cx:pt idx="88">67</cx:pt>
          <cx:pt idx="89">79</cx:pt>
          <cx:pt idx="90">59</cx:pt>
          <cx:pt idx="91">73</cx:pt>
          <cx:pt idx="92">56</cx:pt>
          <cx:pt idx="93">82</cx:pt>
          <cx:pt idx="94">62</cx:pt>
          <cx:pt idx="95">76</cx:pt>
          <cx:pt idx="96">35</cx:pt>
          <cx:pt idx="97">61</cx:pt>
          <cx:pt idx="98">65</cx:pt>
          <cx:pt idx="99">83</cx:pt>
          <cx:pt idx="100">35</cx:pt>
          <cx:pt idx="101">44</cx:pt>
          <cx:pt idx="102">57</cx:pt>
          <cx:pt idx="103">76</cx:pt>
          <cx:pt idx="104">48</cx:pt>
          <cx:pt idx="105">62</cx:pt>
          <cx:pt idx="106">45</cx:pt>
          <cx:pt idx="107">34</cx:pt>
          <cx:pt idx="108">51</cx:pt>
          <cx:pt idx="109">85</cx:pt>
          <cx:pt idx="110">59</cx:pt>
          <cx:pt idx="111">67</cx:pt>
          <cx:pt idx="112">77</cx:pt>
          <cx:pt idx="113">60</cx:pt>
          <cx:pt idx="114">53</cx:pt>
          <cx:pt idx="115">84</cx:pt>
          <cx:pt idx="116">37</cx:pt>
          <cx:pt idx="117">67</cx:pt>
          <cx:pt idx="118">57</cx:pt>
          <cx:pt idx="119">83</cx:pt>
          <cx:pt idx="120">70</cx:pt>
          <cx:pt idx="121">67</cx:pt>
          <cx:pt idx="122">37</cx:pt>
          <cx:pt idx="123">58</cx:pt>
          <cx:pt idx="124">68</cx:pt>
          <cx:pt idx="125">72</cx:pt>
          <cx:pt idx="126">60</cx:pt>
          <cx:pt idx="127">41</cx:pt>
          <cx:pt idx="128">40</cx:pt>
          <cx:pt idx="129">49</cx:pt>
          <cx:pt idx="130">52</cx:pt>
          <cx:pt idx="131">78</cx:pt>
          <cx:pt idx="132">83</cx:pt>
          <cx:pt idx="133">38</cx:pt>
          <cx:pt idx="134">41</cx:pt>
          <cx:pt idx="135">72</cx:pt>
          <cx:pt idx="136">54</cx:pt>
          <cx:pt idx="137">36</cx:pt>
          <cx:pt idx="138">54</cx:pt>
          <cx:pt idx="139">55</cx:pt>
          <cx:pt idx="140">45</cx:pt>
          <cx:pt idx="141">83</cx:pt>
          <cx:pt idx="142">55</cx:pt>
          <cx:pt idx="143">41</cx:pt>
          <cx:pt idx="144">73</cx:pt>
          <cx:pt idx="145">77</cx:pt>
          <cx:pt idx="146">88</cx:pt>
          <cx:pt idx="147">63</cx:pt>
          <cx:pt idx="148">60</cx:pt>
          <cx:pt idx="149">76</cx:pt>
          <cx:pt idx="150">48</cx:pt>
          <cx:pt idx="151">58</cx:pt>
          <cx:pt idx="152">45</cx:pt>
          <cx:pt idx="153">56</cx:pt>
          <cx:pt idx="154">73</cx:pt>
          <cx:pt idx="155">48</cx:pt>
          <cx:pt idx="156">71</cx:pt>
          <cx:pt idx="157">70</cx:pt>
          <cx:pt idx="158">60</cx:pt>
          <cx:pt idx="159">56</cx:pt>
          <cx:pt idx="160">85</cx:pt>
          <cx:pt idx="161">53</cx:pt>
          <cx:pt idx="162">80</cx:pt>
          <cx:pt idx="163">54</cx:pt>
          <cx:pt idx="164">59</cx:pt>
          <cx:pt idx="165">40</cx:pt>
          <cx:pt idx="166">75</cx:pt>
          <cx:pt idx="167">53</cx:pt>
          <cx:pt idx="168">84</cx:pt>
          <cx:pt idx="169">78</cx:pt>
          <cx:pt idx="170">76</cx:pt>
          <cx:pt idx="171">67</cx:pt>
          <cx:pt idx="172">80</cx:pt>
          <cx:pt idx="173">52</cx:pt>
          <cx:pt idx="174">50</cx:pt>
          <cx:pt idx="175">71</cx:pt>
          <cx:pt idx="176">50</cx:pt>
          <cx:pt idx="177">81</cx:pt>
          <cx:pt idx="178">65</cx:pt>
          <cx:pt idx="179">48</cx:pt>
          <cx:pt idx="180">54</cx:pt>
          <cx:pt idx="181">75</cx:pt>
          <cx:pt idx="182">74</cx:pt>
          <cx:pt idx="183">85</cx:pt>
          <cx:pt idx="184">54</cx:pt>
          <cx:pt idx="185">43</cx:pt>
          <cx:pt idx="186">54</cx:pt>
          <cx:pt idx="187">54</cx:pt>
          <cx:pt idx="188">55</cx:pt>
          <cx:pt idx="189">57</cx:pt>
          <cx:pt idx="190">49</cx:pt>
          <cx:pt idx="191">79</cx:pt>
          <cx:pt idx="192">80</cx:pt>
          <cx:pt idx="193">47</cx:pt>
          <cx:pt idx="194">73</cx:pt>
          <cx:pt idx="195">46</cx:pt>
          <cx:pt idx="196">67</cx:pt>
          <cx:pt idx="197">72</cx:pt>
          <cx:pt idx="198">81</cx:pt>
          <cx:pt idx="199">38</cx:pt>
          <cx:pt idx="200">41</cx:pt>
          <cx:pt idx="201">78</cx:pt>
          <cx:pt idx="202">75</cx:pt>
          <cx:pt idx="203">56</cx:pt>
          <cx:pt idx="204">57</cx:pt>
          <cx:pt idx="205">53</cx:pt>
          <cx:pt idx="206">74</cx:pt>
          <cx:pt idx="207">75</cx:pt>
          <cx:pt idx="208">78</cx:pt>
          <cx:pt idx="209">37</cx:pt>
          <cx:pt idx="210">78</cx:pt>
          <cx:pt idx="211">83</cx:pt>
          <cx:pt idx="212">41</cx:pt>
          <cx:pt idx="213">59</cx:pt>
          <cx:pt idx="214">68</cx:pt>
          <cx:pt idx="215">62</cx:pt>
          <cx:pt idx="216">46</cx:pt>
          <cx:pt idx="217">88</cx:pt>
          <cx:pt idx="218">42</cx:pt>
          <cx:pt idx="219">54</cx:pt>
          <cx:pt idx="220">46</cx:pt>
          <cx:pt idx="221">57</cx:pt>
          <cx:pt idx="222">50</cx:pt>
          <cx:pt idx="223">62</cx:pt>
          <cx:pt idx="224">85</cx:pt>
          <cx:pt idx="225">81</cx:pt>
          <cx:pt idx="226">41</cx:pt>
          <cx:pt idx="227">76</cx:pt>
          <cx:pt idx="228">66</cx:pt>
          <cx:pt idx="229">70</cx:pt>
          <cx:pt idx="230">68</cx:pt>
          <cx:pt idx="231">61</cx:pt>
          <cx:pt idx="232">32</cx:pt>
          <cx:pt idx="233">47</cx:pt>
          <cx:pt idx="234">43</cx:pt>
          <cx:pt idx="235">42</cx:pt>
          <cx:pt idx="236">63</cx:pt>
          <cx:pt idx="237">71</cx:pt>
          <cx:pt idx="238">69</cx:pt>
          <cx:pt idx="239">57</cx:pt>
          <cx:pt idx="240">58</cx:pt>
          <cx:pt idx="241">39</cx:pt>
          <cx:pt idx="242">81</cx:pt>
          <cx:pt idx="243">80</cx:pt>
          <cx:pt idx="244">48</cx:pt>
          <cx:pt idx="245">74</cx:pt>
          <cx:pt idx="246">53</cx:pt>
          <cx:pt idx="247">52</cx:pt>
          <cx:pt idx="248">82</cx:pt>
          <cx:pt idx="249">57</cx:pt>
          <cx:pt idx="250">48</cx:pt>
          <cx:pt idx="251">80</cx:pt>
          <cx:pt idx="252">45</cx:pt>
          <cx:pt idx="253">56</cx:pt>
          <cx:pt idx="254">44</cx:pt>
          <cx:pt idx="255">70</cx:pt>
          <cx:pt idx="256">64</cx:pt>
          <cx:pt idx="257">65</cx:pt>
          <cx:pt idx="258">61</cx:pt>
          <cx:pt idx="259">84</cx:pt>
          <cx:pt idx="260">78</cx:pt>
          <cx:pt idx="261">78</cx:pt>
          <cx:pt idx="262">44</cx:pt>
          <cx:pt idx="263">51</cx:pt>
          <cx:pt idx="264">60</cx:pt>
          <cx:pt idx="265">78</cx:pt>
          <cx:pt idx="266">75</cx:pt>
          <cx:pt idx="267">58</cx:pt>
          <cx:pt idx="268">65</cx:pt>
          <cx:pt idx="269">66</cx:pt>
          <cx:pt idx="270">81</cx:pt>
          <cx:pt idx="271">38</cx:pt>
          <cx:pt idx="272">60</cx:pt>
          <cx:pt idx="273">53</cx:pt>
          <cx:pt idx="274">71</cx:pt>
          <cx:pt idx="275">50</cx:pt>
          <cx:pt idx="276">43</cx:pt>
          <cx:pt idx="277">77</cx:pt>
          <cx:pt idx="278">40</cx:pt>
          <cx:pt idx="279">70</cx:pt>
          <cx:pt idx="280">71</cx:pt>
          <cx:pt idx="281">66</cx:pt>
          <cx:pt idx="282">80</cx:pt>
          <cx:pt idx="283">43</cx:pt>
          <cx:pt idx="284">50</cx:pt>
          <cx:pt idx="285">89</cx:pt>
          <cx:pt idx="286">68</cx:pt>
          <cx:pt idx="287">52</cx:pt>
          <cx:pt idx="288">51</cx:pt>
          <cx:pt idx="289">40</cx:pt>
          <cx:pt idx="290">40</cx:pt>
          <cx:pt idx="291">50</cx:pt>
          <cx:pt idx="292">65</cx:pt>
          <cx:pt idx="293">47</cx:pt>
          <cx:pt idx="294">77</cx:pt>
          <cx:pt idx="295">55</cx:pt>
          <cx:pt idx="296">74</cx:pt>
          <cx:pt idx="297">76</cx:pt>
          <cx:pt idx="298">52</cx:pt>
          <cx:pt idx="299">67</cx:pt>
          <cx:pt idx="300">48</cx:pt>
          <cx:pt idx="301">63</cx:pt>
          <cx:pt idx="302">54</cx:pt>
          <cx:pt idx="303">38</cx:pt>
          <cx:pt idx="304">75</cx:pt>
          <cx:pt idx="305">73</cx:pt>
          <cx:pt idx="306">52</cx:pt>
          <cx:pt idx="307">49</cx:pt>
          <cx:pt idx="308">47</cx:pt>
          <cx:pt idx="309">65</cx:pt>
          <cx:pt idx="310">79</cx:pt>
          <cx:pt idx="311">43</cx:pt>
          <cx:pt idx="312">58</cx:pt>
          <cx:pt idx="313">52</cx:pt>
          <cx:pt idx="314">44</cx:pt>
          <cx:pt idx="315">44</cx:pt>
          <cx:pt idx="316">61</cx:pt>
          <cx:pt idx="317">84</cx:pt>
          <cx:pt idx="318">53</cx:pt>
          <cx:pt idx="319">60</cx:pt>
          <cx:pt idx="320">79</cx:pt>
          <cx:pt idx="321">85</cx:pt>
          <cx:pt idx="322">74</cx:pt>
          <cx:pt idx="323">69</cx:pt>
          <cx:pt idx="324">51</cx:pt>
          <cx:pt idx="325">51</cx:pt>
          <cx:pt idx="326">81</cx:pt>
          <cx:pt idx="327">70</cx:pt>
          <cx:pt idx="328">58</cx:pt>
          <cx:pt idx="329">77</cx:pt>
          <cx:pt idx="330">58</cx:pt>
          <cx:pt idx="331">46</cx:pt>
          <cx:pt idx="332">41</cx:pt>
          <cx:pt idx="333">68</cx:pt>
          <cx:pt idx="334">67</cx:pt>
          <cx:pt idx="335">45</cx:pt>
          <cx:pt idx="336">42</cx:pt>
          <cx:pt idx="337">50</cx:pt>
          <cx:pt idx="338">75</cx:pt>
          <cx:pt idx="339">59</cx:pt>
          <cx:pt idx="340">70</cx:pt>
          <cx:pt idx="341">44</cx:pt>
          <cx:pt idx="342">85</cx:pt>
          <cx:pt idx="343">31</cx:pt>
          <cx:pt idx="344">50</cx:pt>
          <cx:pt idx="345">54</cx:pt>
          <cx:pt idx="346">55</cx:pt>
          <cx:pt idx="347">59</cx:pt>
          <cx:pt idx="348">77</cx:pt>
          <cx:pt idx="349">89</cx:pt>
          <cx:pt idx="350">64</cx:pt>
          <cx:pt idx="351">57</cx:pt>
          <cx:pt idx="352">74</cx:pt>
          <cx:pt idx="353">59</cx:pt>
          <cx:pt idx="354">41</cx:pt>
          <cx:pt idx="355">64</cx:pt>
          <cx:pt idx="356">45</cx:pt>
          <cx:pt idx="357">34</cx:pt>
          <cx:pt idx="358">77</cx:pt>
          <cx:pt idx="359">38</cx:pt>
          <cx:pt idx="360">72</cx:pt>
          <cx:pt idx="361">49</cx:pt>
          <cx:pt idx="362">62</cx:pt>
          <cx:pt idx="363">71</cx:pt>
          <cx:pt idx="364">47</cx:pt>
        </cx:lvl>
      </cx:numDim>
    </cx:data>
  </cx:chartData>
  <cx:chart>
    <cx:title pos="t" align="ctr" overlay="0">
      <cx:tx>
        <cx:txData>
          <cx:v>Histogram for AdWords Ad Clicks</cx:v>
        </cx:txData>
      </cx:tx>
      <cx:txPr>
        <a:bodyPr spcFirstLastPara="1" vertOverflow="ellipsis" horzOverflow="overflow" wrap="square" lIns="0" tIns="0" rIns="0" bIns="0" anchor="ctr" anchorCtr="1"/>
        <a:lstStyle/>
        <a:p>
          <a:pPr algn="ctr" rtl="0">
            <a:defRPr/>
          </a:pPr>
          <a:r>
            <a:rPr lang="en-US" sz="1400" b="0" i="0" u="none" strike="noStrike" baseline="0">
              <a:solidFill>
                <a:srgbClr val="000000">
                  <a:lumMod val="65000"/>
                  <a:lumOff val="35000"/>
                </a:srgbClr>
              </a:solidFill>
              <a:latin typeface="Arial"/>
              <a:cs typeface="Arial"/>
            </a:rPr>
            <a:t>Histogram for AdWords Ad Clicks</a:t>
          </a:r>
        </a:p>
      </cx:txPr>
    </cx:title>
    <cx:plotArea>
      <cx:plotAreaRegion>
        <cx:series layoutId="clusteredColumn" uniqueId="{C021BA49-DC3F-489D-8453-F93361CFCB56}">
          <cx:dataId val="0"/>
          <cx:layoutPr>
            <cx:binning intervalClosed="r">
              <cx:binSize val="10"/>
            </cx:binning>
          </cx:layoutPr>
        </cx:series>
      </cx:plotAreaRegion>
      <cx:axis id="0">
        <cx:catScaling gapWidth="0"/>
        <cx:title>
          <cx:tx>
            <cx:rich>
              <a:bodyPr spcFirstLastPara="1" vertOverflow="ellipsis" horzOverflow="overflow" wrap="square" lIns="0" tIns="0" rIns="0" bIns="0" anchor="ctr" anchorCtr="1"/>
              <a:lstStyle/>
              <a:p>
                <a:pPr algn="ctr" rtl="0">
                  <a:defRPr/>
                </a:pPr>
                <a:r>
                  <a:rPr lang="en-GB"/>
                  <a:t>Frequency (Number of Campaigns)</a:t>
                </a:r>
                <a:endParaRPr lang="en-US" sz="900" b="0" i="0" u="none" strike="noStrike" baseline="0">
                  <a:solidFill>
                    <a:srgbClr val="000000">
                      <a:lumMod val="65000"/>
                      <a:lumOff val="35000"/>
                    </a:srgbClr>
                  </a:solidFill>
                  <a:latin typeface="Arial"/>
                  <a:cs typeface="Arial"/>
                </a:endParaRPr>
              </a:p>
            </cx:rich>
          </cx:tx>
        </cx:title>
        <cx:tickLabels/>
      </cx:axis>
      <cx:axis id="1">
        <cx:valScaling/>
        <cx:title>
          <cx:tx>
            <cx:rich>
              <a:bodyPr spcFirstLastPara="1" vertOverflow="ellipsis" horzOverflow="overflow" wrap="square" lIns="0" tIns="0" rIns="0" bIns="0" anchor="ctr" anchorCtr="1"/>
              <a:lstStyle/>
              <a:p>
                <a:pPr algn="ctr" rtl="0">
                  <a:defRPr/>
                </a:pPr>
                <a:r>
                  <a:rPr lang="en-GB"/>
                  <a:t>AdWords Ad Click Ranges</a:t>
                </a:r>
                <a:endParaRPr lang="en-US" sz="900" b="0" i="0" u="none" strike="noStrike" baseline="0">
                  <a:solidFill>
                    <a:srgbClr val="000000">
                      <a:lumMod val="65000"/>
                      <a:lumOff val="35000"/>
                    </a:srgbClr>
                  </a:solidFill>
                  <a:latin typeface="Arial"/>
                  <a:cs typeface="Arial"/>
                </a:endParaRPr>
              </a:p>
            </cx:rich>
          </cx:tx>
        </cx:title>
        <cx:majorGridlines/>
        <cx:tickLabels/>
      </cx:axis>
    </cx:plotArea>
  </cx:chart>
</cx:chartSpace>
</file>

<file path=ppt/charts/chartEx2.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'Capstone Dataset'!$M$2:$M$366</cx:f>
        <cx:lvl ptCount="365" formatCode="Основной">
          <cx:pt idx="0">5</cx:pt>
          <cx:pt idx="1">6</cx:pt>
          <cx:pt idx="2">4</cx:pt>
          <cx:pt idx="3">5</cx:pt>
          <cx:pt idx="4">7</cx:pt>
          <cx:pt idx="5">4</cx:pt>
          <cx:pt idx="6">7</cx:pt>
          <cx:pt idx="7">4</cx:pt>
          <cx:pt idx="8">9</cx:pt>
          <cx:pt idx="9">5</cx:pt>
          <cx:pt idx="10">7</cx:pt>
          <cx:pt idx="11">8</cx:pt>
          <cx:pt idx="12">7</cx:pt>
          <cx:pt idx="13">9</cx:pt>
          <cx:pt idx="14">3</cx:pt>
          <cx:pt idx="15">6</cx:pt>
          <cx:pt idx="16">5</cx:pt>
          <cx:pt idx="17">6</cx:pt>
          <cx:pt idx="18">4</cx:pt>
          <cx:pt idx="19">7</cx:pt>
          <cx:pt idx="20">3</cx:pt>
          <cx:pt idx="21">4</cx:pt>
          <cx:pt idx="22">7</cx:pt>
          <cx:pt idx="23">6</cx:pt>
          <cx:pt idx="24">7</cx:pt>
          <cx:pt idx="25">4</cx:pt>
          <cx:pt idx="26">6</cx:pt>
          <cx:pt idx="27">7</cx:pt>
          <cx:pt idx="28">8</cx:pt>
          <cx:pt idx="29">5</cx:pt>
          <cx:pt idx="30">4</cx:pt>
          <cx:pt idx="31">6</cx:pt>
          <cx:pt idx="32">6</cx:pt>
          <cx:pt idx="33">5</cx:pt>
          <cx:pt idx="34">5</cx:pt>
          <cx:pt idx="35">9</cx:pt>
          <cx:pt idx="36">7</cx:pt>
          <cx:pt idx="37">7</cx:pt>
          <cx:pt idx="38">4</cx:pt>
          <cx:pt idx="39">4</cx:pt>
          <cx:pt idx="40">5</cx:pt>
          <cx:pt idx="41">8</cx:pt>
          <cx:pt idx="42">5</cx:pt>
          <cx:pt idx="43">5</cx:pt>
          <cx:pt idx="44">8</cx:pt>
          <cx:pt idx="45">3</cx:pt>
          <cx:pt idx="46">8</cx:pt>
          <cx:pt idx="47">7</cx:pt>
          <cx:pt idx="48">7</cx:pt>
          <cx:pt idx="49">4</cx:pt>
          <cx:pt idx="50">7</cx:pt>
          <cx:pt idx="51">7</cx:pt>
          <cx:pt idx="52">8</cx:pt>
          <cx:pt idx="53">5</cx:pt>
          <cx:pt idx="54">9</cx:pt>
          <cx:pt idx="55">4</cx:pt>
          <cx:pt idx="56">7</cx:pt>
          <cx:pt idx="57">7</cx:pt>
          <cx:pt idx="58">3</cx:pt>
          <cx:pt idx="59">4</cx:pt>
          <cx:pt idx="60">6</cx:pt>
          <cx:pt idx="61">6</cx:pt>
          <cx:pt idx="62">4</cx:pt>
          <cx:pt idx="63">8</cx:pt>
          <cx:pt idx="64">6</cx:pt>
          <cx:pt idx="65">5</cx:pt>
          <cx:pt idx="66">9</cx:pt>
          <cx:pt idx="67">7</cx:pt>
          <cx:pt idx="68">5</cx:pt>
          <cx:pt idx="69">5</cx:pt>
          <cx:pt idx="70">7</cx:pt>
          <cx:pt idx="71">4</cx:pt>
          <cx:pt idx="72">5</cx:pt>
          <cx:pt idx="73">8</cx:pt>
          <cx:pt idx="74">4</cx:pt>
          <cx:pt idx="75">4</cx:pt>
          <cx:pt idx="76">7</cx:pt>
          <cx:pt idx="77">4</cx:pt>
          <cx:pt idx="78">4</cx:pt>
          <cx:pt idx="79">6</cx:pt>
          <cx:pt idx="80">4</cx:pt>
          <cx:pt idx="81">8</cx:pt>
          <cx:pt idx="82">9</cx:pt>
          <cx:pt idx="83">3</cx:pt>
          <cx:pt idx="84">5</cx:pt>
          <cx:pt idx="85">7</cx:pt>
          <cx:pt idx="86">5</cx:pt>
          <cx:pt idx="87">5</cx:pt>
          <cx:pt idx="88">5</cx:pt>
          <cx:pt idx="89">9</cx:pt>
          <cx:pt idx="90">5</cx:pt>
          <cx:pt idx="91">9</cx:pt>
          <cx:pt idx="92">7</cx:pt>
          <cx:pt idx="93">5</cx:pt>
          <cx:pt idx="94">5</cx:pt>
          <cx:pt idx="95">6</cx:pt>
          <cx:pt idx="96">5</cx:pt>
          <cx:pt idx="97">4</cx:pt>
          <cx:pt idx="98">7</cx:pt>
          <cx:pt idx="99">9</cx:pt>
          <cx:pt idx="100">5</cx:pt>
          <cx:pt idx="101">3</cx:pt>
          <cx:pt idx="102">5</cx:pt>
          <cx:pt idx="103">7</cx:pt>
          <cx:pt idx="104">7</cx:pt>
          <cx:pt idx="105">8</cx:pt>
          <cx:pt idx="106">7</cx:pt>
          <cx:pt idx="107">4</cx:pt>
          <cx:pt idx="108">8</cx:pt>
          <cx:pt idx="109">8</cx:pt>
          <cx:pt idx="110">4</cx:pt>
          <cx:pt idx="111">8</cx:pt>
          <cx:pt idx="112">9</cx:pt>
          <cx:pt idx="113">7</cx:pt>
          <cx:pt idx="114">6</cx:pt>
          <cx:pt idx="115">5</cx:pt>
          <cx:pt idx="116">3</cx:pt>
          <cx:pt idx="117">8</cx:pt>
          <cx:pt idx="118">7</cx:pt>
          <cx:pt idx="119">8</cx:pt>
          <cx:pt idx="120">5</cx:pt>
          <cx:pt idx="121">5</cx:pt>
          <cx:pt idx="122">5</cx:pt>
          <cx:pt idx="123">4</cx:pt>
          <cx:pt idx="124">4</cx:pt>
          <cx:pt idx="125">9</cx:pt>
          <cx:pt idx="126">5</cx:pt>
          <cx:pt idx="127">5</cx:pt>
          <cx:pt idx="128">5</cx:pt>
          <cx:pt idx="129">7</cx:pt>
          <cx:pt idx="130">5</cx:pt>
          <cx:pt idx="131">7</cx:pt>
          <cx:pt idx="132">8</cx:pt>
          <cx:pt idx="133">6</cx:pt>
          <cx:pt idx="134">7</cx:pt>
          <cx:pt idx="135">5</cx:pt>
          <cx:pt idx="136">6</cx:pt>
          <cx:pt idx="137">4</cx:pt>
          <cx:pt idx="138">5</cx:pt>
          <cx:pt idx="139">5</cx:pt>
          <cx:pt idx="140">6</cx:pt>
          <cx:pt idx="141">8</cx:pt>
          <cx:pt idx="142">8</cx:pt>
          <cx:pt idx="143">6</cx:pt>
          <cx:pt idx="144">6</cx:pt>
          <cx:pt idx="145">5</cx:pt>
          <cx:pt idx="146">5</cx:pt>
          <cx:pt idx="147">4</cx:pt>
          <cx:pt idx="148">7</cx:pt>
          <cx:pt idx="149">8</cx:pt>
          <cx:pt idx="150">4</cx:pt>
          <cx:pt idx="151">6</cx:pt>
          <cx:pt idx="152">5</cx:pt>
          <cx:pt idx="153">7</cx:pt>
          <cx:pt idx="154">5</cx:pt>
          <cx:pt idx="155">7</cx:pt>
          <cx:pt idx="156">5</cx:pt>
          <cx:pt idx="157">5</cx:pt>
          <cx:pt idx="158">5</cx:pt>
          <cx:pt idx="159">7</cx:pt>
          <cx:pt idx="160">5</cx:pt>
          <cx:pt idx="161">7</cx:pt>
          <cx:pt idx="162">6</cx:pt>
          <cx:pt idx="163">8</cx:pt>
          <cx:pt idx="164">4</cx:pt>
          <cx:pt idx="165">4</cx:pt>
          <cx:pt idx="166">9</cx:pt>
          <cx:pt idx="167">8</cx:pt>
          <cx:pt idx="168">7</cx:pt>
          <cx:pt idx="169">9</cx:pt>
          <cx:pt idx="170">6</cx:pt>
          <cx:pt idx="171">8</cx:pt>
          <cx:pt idx="172">6</cx:pt>
          <cx:pt idx="173">5</cx:pt>
          <cx:pt idx="174">7</cx:pt>
          <cx:pt idx="175">5</cx:pt>
          <cx:pt idx="176">4</cx:pt>
          <cx:pt idx="177">9</cx:pt>
          <cx:pt idx="178">5</cx:pt>
          <cx:pt idx="179">7</cx:pt>
          <cx:pt idx="180">6</cx:pt>
          <cx:pt idx="181">7</cx:pt>
          <cx:pt idx="182">8</cx:pt>
          <cx:pt idx="183">6</cx:pt>
          <cx:pt idx="184">6</cx:pt>
          <cx:pt idx="185">7</cx:pt>
          <cx:pt idx="186">6</cx:pt>
          <cx:pt idx="187">8</cx:pt>
          <cx:pt idx="188">5</cx:pt>
          <cx:pt idx="189">7</cx:pt>
          <cx:pt idx="190">4</cx:pt>
          <cx:pt idx="191">8</cx:pt>
          <cx:pt idx="192">7</cx:pt>
          <cx:pt idx="193">3</cx:pt>
          <cx:pt idx="194">5</cx:pt>
          <cx:pt idx="195">4</cx:pt>
          <cx:pt idx="196">7</cx:pt>
          <cx:pt idx="197">6</cx:pt>
          <cx:pt idx="198">9</cx:pt>
          <cx:pt idx="199">7</cx:pt>
          <cx:pt idx="200">4</cx:pt>
          <cx:pt idx="201">5</cx:pt>
          <cx:pt idx="202">5</cx:pt>
          <cx:pt idx="203">6</cx:pt>
          <cx:pt idx="204">8</cx:pt>
          <cx:pt idx="205">6</cx:pt>
          <cx:pt idx="206">7</cx:pt>
          <cx:pt idx="207">7</cx:pt>
          <cx:pt idx="208">9</cx:pt>
          <cx:pt idx="209">3</cx:pt>
          <cx:pt idx="210">8</cx:pt>
          <cx:pt idx="211">8</cx:pt>
          <cx:pt idx="212">6</cx:pt>
          <cx:pt idx="213">8</cx:pt>
          <cx:pt idx="214">6</cx:pt>
          <cx:pt idx="215">5</cx:pt>
          <cx:pt idx="216">3</cx:pt>
          <cx:pt idx="217">9</cx:pt>
          <cx:pt idx="218">7</cx:pt>
          <cx:pt idx="219">7</cx:pt>
          <cx:pt idx="220">3</cx:pt>
          <cx:pt idx="221">5</cx:pt>
          <cx:pt idx="222">3</cx:pt>
          <cx:pt idx="223">6</cx:pt>
          <cx:pt idx="224">8</cx:pt>
          <cx:pt idx="225">5</cx:pt>
          <cx:pt idx="226">3</cx:pt>
          <cx:pt idx="227">9</cx:pt>
          <cx:pt idx="228">7</cx:pt>
          <cx:pt idx="229">6</cx:pt>
          <cx:pt idx="230">5</cx:pt>
          <cx:pt idx="231">4</cx:pt>
          <cx:pt idx="232">4</cx:pt>
          <cx:pt idx="233">7</cx:pt>
          <cx:pt idx="234">6</cx:pt>
          <cx:pt idx="235">7</cx:pt>
          <cx:pt idx="236">7</cx:pt>
          <cx:pt idx="237">7</cx:pt>
          <cx:pt idx="238">7</cx:pt>
          <cx:pt idx="239">8</cx:pt>
          <cx:pt idx="240">6</cx:pt>
          <cx:pt idx="241">3</cx:pt>
          <cx:pt idx="242">6</cx:pt>
          <cx:pt idx="243">9</cx:pt>
          <cx:pt idx="244">7</cx:pt>
          <cx:pt idx="245">8</cx:pt>
          <cx:pt idx="246">7</cx:pt>
          <cx:pt idx="247">5</cx:pt>
          <cx:pt idx="248">7</cx:pt>
          <cx:pt idx="249">4</cx:pt>
          <cx:pt idx="250">3</cx:pt>
          <cx:pt idx="251">9</cx:pt>
          <cx:pt idx="252">7</cx:pt>
          <cx:pt idx="253">8</cx:pt>
          <cx:pt idx="254">6</cx:pt>
          <cx:pt idx="255">4</cx:pt>
          <cx:pt idx="256">5</cx:pt>
          <cx:pt idx="257">4</cx:pt>
          <cx:pt idx="258">8</cx:pt>
          <cx:pt idx="259">5</cx:pt>
          <cx:pt idx="260">7</cx:pt>
          <cx:pt idx="261">6</cx:pt>
          <cx:pt idx="262">5</cx:pt>
          <cx:pt idx="263">7</cx:pt>
          <cx:pt idx="264">8</cx:pt>
          <cx:pt idx="265">6</cx:pt>
          <cx:pt idx="266">9</cx:pt>
          <cx:pt idx="267">5</cx:pt>
          <cx:pt idx="268">8</cx:pt>
          <cx:pt idx="269">4</cx:pt>
          <cx:pt idx="270">6</cx:pt>
          <cx:pt idx="271">4</cx:pt>
          <cx:pt idx="272">6</cx:pt>
          <cx:pt idx="273">6</cx:pt>
          <cx:pt idx="274">7</cx:pt>
          <cx:pt idx="275">7</cx:pt>
          <cx:pt idx="276">5</cx:pt>
          <cx:pt idx="277">5</cx:pt>
          <cx:pt idx="278">5</cx:pt>
          <cx:pt idx="279">6</cx:pt>
          <cx:pt idx="280">7</cx:pt>
          <cx:pt idx="281">5</cx:pt>
          <cx:pt idx="282">6</cx:pt>
          <cx:pt idx="283">6</cx:pt>
          <cx:pt idx="284">4</cx:pt>
          <cx:pt idx="285">6</cx:pt>
          <cx:pt idx="286">8</cx:pt>
          <cx:pt idx="287">4</cx:pt>
          <cx:pt idx="288">8</cx:pt>
          <cx:pt idx="289">7</cx:pt>
          <cx:pt idx="290">3</cx:pt>
          <cx:pt idx="291">5</cx:pt>
          <cx:pt idx="292">5</cx:pt>
          <cx:pt idx="293">7</cx:pt>
          <cx:pt idx="294">5</cx:pt>
          <cx:pt idx="295">6</cx:pt>
          <cx:pt idx="296">6</cx:pt>
          <cx:pt idx="297">8</cx:pt>
          <cx:pt idx="298">8</cx:pt>
          <cx:pt idx="299">7</cx:pt>
          <cx:pt idx="300">4</cx:pt>
          <cx:pt idx="301">7</cx:pt>
          <cx:pt idx="302">6</cx:pt>
          <cx:pt idx="303">5</cx:pt>
          <cx:pt idx="304">8</cx:pt>
          <cx:pt idx="305">6</cx:pt>
          <cx:pt idx="306">4</cx:pt>
          <cx:pt idx="307">6</cx:pt>
          <cx:pt idx="308">3</cx:pt>
          <cx:pt idx="309">8</cx:pt>
          <cx:pt idx="310">9</cx:pt>
          <cx:pt idx="311">5</cx:pt>
          <cx:pt idx="312">4</cx:pt>
          <cx:pt idx="313">4</cx:pt>
          <cx:pt idx="314">4</cx:pt>
          <cx:pt idx="315">4</cx:pt>
          <cx:pt idx="316">5</cx:pt>
          <cx:pt idx="317">6</cx:pt>
          <cx:pt idx="318">7</cx:pt>
          <cx:pt idx="319">6</cx:pt>
          <cx:pt idx="320">8</cx:pt>
          <cx:pt idx="321">8</cx:pt>
          <cx:pt idx="322">8</cx:pt>
          <cx:pt idx="323">5</cx:pt>
          <cx:pt idx="324">5</cx:pt>
          <cx:pt idx="325">6</cx:pt>
          <cx:pt idx="326">8</cx:pt>
          <cx:pt idx="327">7</cx:pt>
          <cx:pt idx="328">5</cx:pt>
          <cx:pt idx="329">5</cx:pt>
          <cx:pt idx="330">8</cx:pt>
          <cx:pt idx="331">3</cx:pt>
          <cx:pt idx="332">7</cx:pt>
          <cx:pt idx="333">5</cx:pt>
          <cx:pt idx="334">5</cx:pt>
          <cx:pt idx="335">3</cx:pt>
          <cx:pt idx="336">6</cx:pt>
          <cx:pt idx="337">5</cx:pt>
          <cx:pt idx="338">9</cx:pt>
          <cx:pt idx="339">6</cx:pt>
          <cx:pt idx="340">5</cx:pt>
          <cx:pt idx="341">3</cx:pt>
          <cx:pt idx="342">7</cx:pt>
          <cx:pt idx="343">4</cx:pt>
          <cx:pt idx="344">5</cx:pt>
          <cx:pt idx="345">4</cx:pt>
          <cx:pt idx="346">7</cx:pt>
          <cx:pt idx="347">5</cx:pt>
          <cx:pt idx="348">5</cx:pt>
          <cx:pt idx="349">5</cx:pt>
          <cx:pt idx="350">6</cx:pt>
          <cx:pt idx="351">5</cx:pt>
          <cx:pt idx="352">7</cx:pt>
          <cx:pt idx="353">7</cx:pt>
          <cx:pt idx="354">3</cx:pt>
          <cx:pt idx="355">8</cx:pt>
          <cx:pt idx="356">3</cx:pt>
          <cx:pt idx="357">6</cx:pt>
          <cx:pt idx="358">5</cx:pt>
          <cx:pt idx="359">7</cx:pt>
          <cx:pt idx="360">9</cx:pt>
          <cx:pt idx="361">6</cx:pt>
          <cx:pt idx="362">6</cx:pt>
          <cx:pt idx="363">6</cx:pt>
          <cx:pt idx="364">6</cx:pt>
        </cx:lvl>
      </cx:numDim>
    </cx:data>
  </cx:chartData>
  <cx:chart>
    <cx:title pos="t" align="ctr" overlay="0">
      <cx:tx>
        <cx:rich>
          <a:bodyPr spcFirstLastPara="1" vertOverflow="ellipsis" horzOverflow="overflow" wrap="square" lIns="0" tIns="0" rIns="0" bIns="0" anchor="ctr" anchorCtr="1"/>
          <a:lstStyle/>
          <a:p>
            <a:pPr algn="ctr" rtl="0">
              <a:defRPr/>
            </a:pPr>
            <a:r>
              <a:rPr lang="en-GB"/>
              <a:t>Histogram for AdWords Ad Conversions</a:t>
            </a:r>
            <a:endParaRPr lang="en-US" sz="1400" b="0" i="0" u="none" strike="noStrike" baseline="0">
              <a:solidFill>
                <a:srgbClr val="000000">
                  <a:lumMod val="65000"/>
                  <a:lumOff val="35000"/>
                </a:srgbClr>
              </a:solidFill>
              <a:latin typeface="Arial"/>
              <a:cs typeface="Arial"/>
            </a:endParaRPr>
          </a:p>
        </cx:rich>
      </cx:tx>
    </cx:title>
    <cx:plotArea>
      <cx:plotAreaRegion>
        <cx:series layoutId="clusteredColumn" uniqueId="{227DE8F1-A0F1-400E-8AF1-0713DEE0E6C8}">
          <cx:dataId val="0"/>
          <cx:layoutPr>
            <cx:binning intervalClosed="r">
              <cx:binSize val="2"/>
            </cx:binning>
          </cx:layoutPr>
        </cx:series>
      </cx:plotAreaRegion>
      <cx:axis id="0">
        <cx:catScaling gapWidth="0"/>
        <cx:title>
          <cx:tx>
            <cx:rich>
              <a:bodyPr spcFirstLastPara="1" vertOverflow="ellipsis" horzOverflow="overflow" wrap="square" lIns="0" tIns="0" rIns="0" bIns="0" anchor="ctr" anchorCtr="1"/>
              <a:lstStyle/>
              <a:p>
                <a:pPr algn="ctr" rtl="0">
                  <a:defRPr/>
                </a:pPr>
                <a:r>
                  <a:rPr lang="en-GB"/>
                  <a:t>Frequency (Number of Campaigns)</a:t>
                </a:r>
                <a:endParaRPr lang="en-US" sz="900" b="0" i="0" u="none" strike="noStrike" baseline="0">
                  <a:solidFill>
                    <a:srgbClr val="000000">
                      <a:lumMod val="65000"/>
                      <a:lumOff val="35000"/>
                    </a:srgbClr>
                  </a:solidFill>
                  <a:latin typeface="Arial"/>
                  <a:cs typeface="Arial"/>
                </a:endParaRPr>
              </a:p>
            </cx:rich>
          </cx:tx>
        </cx:title>
        <cx:tickLabels/>
      </cx:axis>
      <cx:axis id="1">
        <cx:valScaling/>
        <cx:title>
          <cx:tx>
            <cx:rich>
              <a:bodyPr spcFirstLastPara="1" vertOverflow="ellipsis" horzOverflow="overflow" wrap="square" lIns="0" tIns="0" rIns="0" bIns="0" anchor="ctr" anchorCtr="1"/>
              <a:lstStyle/>
              <a:p>
                <a:pPr algn="ctr" rtl="0">
                  <a:defRPr/>
                </a:pPr>
                <a:r>
                  <a:rPr lang="en-GB"/>
                  <a:t>AdWords Ad Conversion Ranges</a:t>
                </a:r>
                <a:endParaRPr lang="en-US" sz="900" b="0" i="0" u="none" strike="noStrike" baseline="0">
                  <a:solidFill>
                    <a:srgbClr val="000000">
                      <a:lumMod val="65000"/>
                      <a:lumOff val="35000"/>
                    </a:srgbClr>
                  </a:solidFill>
                  <a:latin typeface="Arial"/>
                  <a:cs typeface="Arial"/>
                </a:endParaRPr>
              </a:p>
            </cx:rich>
          </cx:tx>
        </cx:title>
        <cx:majorGridlines/>
        <cx:tickLabels/>
      </cx:axis>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f24172381d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f24172381d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f903b244e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f903b244e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f24172381d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f24172381d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f24172381d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f24172381d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f903b244ee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f903b244ee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cb4d64c7d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cb4d64c7d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f266468e8d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f266468e8d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f266468e8d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f266468e8d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f266468e8d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f266468e8d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cb4d64c7de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cb4d64c7de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f2bc20c609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f2bc20c609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cb4d64c7de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cb4d64c7de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f2bc20c609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f2bc20c609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f2bc20c609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f2bc20c609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f1a1597b1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f1a1597b1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0" y="3626725"/>
            <a:ext cx="9144000" cy="1399200"/>
          </a:xfrm>
          <a:prstGeom prst="rect">
            <a:avLst/>
          </a:prstGeom>
          <a:solidFill>
            <a:srgbClr val="69BCC1"/>
          </a:solidFill>
          <a:ln>
            <a:noFill/>
          </a:ln>
          <a:effectLst>
            <a:outerShdw blurRad="57150" dist="19050" dir="5400000" algn="bl" rotWithShape="0">
              <a:srgbClr val="000000">
                <a:alpha val="50000"/>
              </a:srgbClr>
            </a:outerShdw>
          </a:effectLst>
        </p:spPr>
        <p:txBody>
          <a:bodyPr spcFirstLastPara="1" wrap="square" lIns="201250" tIns="100600" rIns="201250" bIns="100600" anchor="ctr" anchorCtr="0">
            <a:noAutofit/>
          </a:bodyPr>
          <a:lstStyle/>
          <a:p>
            <a:pPr marL="0" marR="0" lvl="0" indent="0" algn="ctr" rtl="0">
              <a:lnSpc>
                <a:spcPct val="100000"/>
              </a:lnSpc>
              <a:spcBef>
                <a:spcPts val="0"/>
              </a:spcBef>
              <a:spcAft>
                <a:spcPts val="0"/>
              </a:spcAft>
              <a:buClr>
                <a:srgbClr val="000000"/>
              </a:buClr>
              <a:buSzPts val="3100"/>
              <a:buFont typeface="Arial"/>
              <a:buNone/>
            </a:pPr>
            <a:endParaRPr sz="3100" b="0" i="0" u="none" strike="noStrike" cap="none">
              <a:solidFill>
                <a:srgbClr val="FFFFFF"/>
              </a:solidFill>
              <a:latin typeface="Arial"/>
              <a:ea typeface="Arial"/>
              <a:cs typeface="Arial"/>
              <a:sym typeface="Arial"/>
            </a:endParaRPr>
          </a:p>
        </p:txBody>
      </p:sp>
      <p:sp>
        <p:nvSpPr>
          <p:cNvPr id="11" name="Google Shape;11;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Clr>
                <a:srgbClr val="0A0049"/>
              </a:buClr>
              <a:buSzPts val="5200"/>
              <a:buNone/>
              <a:defRPr sz="5200">
                <a:solidFill>
                  <a:srgbClr val="0A0049"/>
                </a:solidFill>
              </a:defRPr>
            </a:lvl2pPr>
            <a:lvl3pPr lvl="2" algn="ctr">
              <a:spcBef>
                <a:spcPts val="0"/>
              </a:spcBef>
              <a:spcAft>
                <a:spcPts val="0"/>
              </a:spcAft>
              <a:buClr>
                <a:srgbClr val="0A0049"/>
              </a:buClr>
              <a:buSzPts val="5200"/>
              <a:buNone/>
              <a:defRPr sz="5200">
                <a:solidFill>
                  <a:srgbClr val="0A0049"/>
                </a:solidFill>
              </a:defRPr>
            </a:lvl3pPr>
            <a:lvl4pPr lvl="3" algn="ctr">
              <a:spcBef>
                <a:spcPts val="0"/>
              </a:spcBef>
              <a:spcAft>
                <a:spcPts val="0"/>
              </a:spcAft>
              <a:buClr>
                <a:srgbClr val="0A0049"/>
              </a:buClr>
              <a:buSzPts val="5200"/>
              <a:buNone/>
              <a:defRPr sz="5200">
                <a:solidFill>
                  <a:srgbClr val="0A0049"/>
                </a:solidFill>
              </a:defRPr>
            </a:lvl4pPr>
            <a:lvl5pPr lvl="4" algn="ctr">
              <a:spcBef>
                <a:spcPts val="0"/>
              </a:spcBef>
              <a:spcAft>
                <a:spcPts val="0"/>
              </a:spcAft>
              <a:buClr>
                <a:srgbClr val="0A0049"/>
              </a:buClr>
              <a:buSzPts val="5200"/>
              <a:buNone/>
              <a:defRPr sz="5200">
                <a:solidFill>
                  <a:srgbClr val="0A0049"/>
                </a:solidFill>
              </a:defRPr>
            </a:lvl5pPr>
            <a:lvl6pPr lvl="5" algn="ctr">
              <a:spcBef>
                <a:spcPts val="0"/>
              </a:spcBef>
              <a:spcAft>
                <a:spcPts val="0"/>
              </a:spcAft>
              <a:buClr>
                <a:srgbClr val="0A0049"/>
              </a:buClr>
              <a:buSzPts val="5200"/>
              <a:buNone/>
              <a:defRPr sz="5200">
                <a:solidFill>
                  <a:srgbClr val="0A0049"/>
                </a:solidFill>
              </a:defRPr>
            </a:lvl6pPr>
            <a:lvl7pPr lvl="6" algn="ctr">
              <a:spcBef>
                <a:spcPts val="0"/>
              </a:spcBef>
              <a:spcAft>
                <a:spcPts val="0"/>
              </a:spcAft>
              <a:buClr>
                <a:srgbClr val="0A0049"/>
              </a:buClr>
              <a:buSzPts val="5200"/>
              <a:buNone/>
              <a:defRPr sz="5200">
                <a:solidFill>
                  <a:srgbClr val="0A0049"/>
                </a:solidFill>
              </a:defRPr>
            </a:lvl7pPr>
            <a:lvl8pPr lvl="7" algn="ctr">
              <a:spcBef>
                <a:spcPts val="0"/>
              </a:spcBef>
              <a:spcAft>
                <a:spcPts val="0"/>
              </a:spcAft>
              <a:buClr>
                <a:srgbClr val="0A0049"/>
              </a:buClr>
              <a:buSzPts val="5200"/>
              <a:buNone/>
              <a:defRPr sz="5200">
                <a:solidFill>
                  <a:srgbClr val="0A0049"/>
                </a:solidFill>
              </a:defRPr>
            </a:lvl8pPr>
            <a:lvl9pPr lvl="8" algn="ctr">
              <a:spcBef>
                <a:spcPts val="0"/>
              </a:spcBef>
              <a:spcAft>
                <a:spcPts val="0"/>
              </a:spcAft>
              <a:buClr>
                <a:srgbClr val="0A0049"/>
              </a:buClr>
              <a:buSzPts val="5200"/>
              <a:buNone/>
              <a:defRPr sz="5200">
                <a:solidFill>
                  <a:srgbClr val="0A0049"/>
                </a:solidFill>
              </a:defRPr>
            </a:lvl9pPr>
          </a:lstStyle>
          <a:p>
            <a:endParaRPr dirty="0"/>
          </a:p>
        </p:txBody>
      </p:sp>
      <p:sp>
        <p:nvSpPr>
          <p:cNvPr id="12" name="Google Shape;12;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dirty="0"/>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 name="TextBox 1">
            <a:extLst>
              <a:ext uri="{FF2B5EF4-FFF2-40B4-BE49-F238E27FC236}">
                <a16:creationId xmlns:a16="http://schemas.microsoft.com/office/drawing/2014/main" id="{E2E6ABD5-FA40-368D-9F17-D04ACF743BDB}"/>
              </a:ext>
            </a:extLst>
          </p:cNvPr>
          <p:cNvSpPr txBox="1"/>
          <p:nvPr userDrawn="1"/>
        </p:nvSpPr>
        <p:spPr>
          <a:xfrm>
            <a:off x="84306" y="4419325"/>
            <a:ext cx="8388152" cy="307777"/>
          </a:xfrm>
          <a:prstGeom prst="rect">
            <a:avLst/>
          </a:prstGeom>
          <a:noFill/>
        </p:spPr>
        <p:txBody>
          <a:bodyPr wrap="square" rtlCol="0">
            <a:spAutoFit/>
          </a:bodyPr>
          <a:lstStyle/>
          <a:p>
            <a:r>
              <a:rPr lang="en-GB" dirty="0">
                <a:solidFill>
                  <a:schemeClr val="bg1">
                    <a:lumMod val="50000"/>
                  </a:schemeClr>
                </a:solidFill>
                <a:latin typeface="Century Gothic" panose="020B0502020202020204" pitchFamily="34" charset="0"/>
              </a:rPr>
              <a:t>Andrejs Verhovods – Statistics Foundations Capstone, 2025</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6" name="Google Shape;16;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Aptly" type="tx">
  <p:cSld name="TITLE_AND_BODY">
    <p:spTree>
      <p:nvGrpSpPr>
        <p:cNvPr id="1" name="Shape 17"/>
        <p:cNvGrpSpPr/>
        <p:nvPr/>
      </p:nvGrpSpPr>
      <p:grpSpPr>
        <a:xfrm>
          <a:off x="0" y="0"/>
          <a:ext cx="0" cy="0"/>
          <a:chOff x="0" y="0"/>
          <a:chExt cx="0" cy="0"/>
        </a:xfrm>
      </p:grpSpPr>
      <p:sp>
        <p:nvSpPr>
          <p:cNvPr id="18" name="Google Shape;18;p4"/>
          <p:cNvSpPr/>
          <p:nvPr/>
        </p:nvSpPr>
        <p:spPr>
          <a:xfrm>
            <a:off x="0" y="0"/>
            <a:ext cx="9144000" cy="986100"/>
          </a:xfrm>
          <a:prstGeom prst="rect">
            <a:avLst/>
          </a:prstGeom>
          <a:solidFill>
            <a:srgbClr val="69BCC1"/>
          </a:solidFill>
          <a:ln>
            <a:noFill/>
          </a:ln>
          <a:effectLst>
            <a:outerShdw blurRad="57150" dist="19050" dir="5400000" algn="bl" rotWithShape="0">
              <a:srgbClr val="000000">
                <a:alpha val="50000"/>
              </a:srgbClr>
            </a:outerShdw>
          </a:effectLst>
        </p:spPr>
        <p:txBody>
          <a:bodyPr spcFirstLastPara="1" wrap="square" lIns="201250" tIns="100600" rIns="201250" bIns="100600" anchor="ctr" anchorCtr="0">
            <a:noAutofit/>
          </a:bodyPr>
          <a:lstStyle/>
          <a:p>
            <a:pPr marL="0" marR="0" lvl="0" indent="0" algn="ctr" rtl="0">
              <a:lnSpc>
                <a:spcPct val="100000"/>
              </a:lnSpc>
              <a:spcBef>
                <a:spcPts val="0"/>
              </a:spcBef>
              <a:spcAft>
                <a:spcPts val="0"/>
              </a:spcAft>
              <a:buClr>
                <a:srgbClr val="000000"/>
              </a:buClr>
              <a:buSzPts val="3100"/>
              <a:buFont typeface="Arial"/>
              <a:buNone/>
            </a:pPr>
            <a:endParaRPr sz="3100" b="0" i="0" u="none" strike="noStrike" cap="none">
              <a:solidFill>
                <a:srgbClr val="FFFFFF"/>
              </a:solidFill>
              <a:latin typeface="Arial"/>
              <a:ea typeface="Arial"/>
              <a:cs typeface="Arial"/>
              <a:sym typeface="Arial"/>
            </a:endParaRPr>
          </a:p>
        </p:txBody>
      </p:sp>
      <p:sp>
        <p:nvSpPr>
          <p:cNvPr id="19" name="Google Shape;19;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Clr>
                <a:srgbClr val="000000"/>
              </a:buClr>
              <a:buSzPts val="3200"/>
              <a:buFont typeface="DM Sans"/>
              <a:buNone/>
              <a:defRPr sz="3200">
                <a:solidFill>
                  <a:srgbClr val="000000"/>
                </a:solidFill>
                <a:latin typeface="DM Sans"/>
                <a:ea typeface="DM Sans"/>
                <a:cs typeface="DM Sans"/>
                <a:sym typeface="DM Sans"/>
              </a:defRPr>
            </a:lvl1pPr>
            <a:lvl2pPr lvl="1">
              <a:spcBef>
                <a:spcPts val="0"/>
              </a:spcBef>
              <a:spcAft>
                <a:spcPts val="0"/>
              </a:spcAft>
              <a:buClr>
                <a:srgbClr val="0A0049"/>
              </a:buClr>
              <a:buSzPts val="3200"/>
              <a:buNone/>
              <a:defRPr sz="3200">
                <a:solidFill>
                  <a:srgbClr val="0A0049"/>
                </a:solidFill>
              </a:defRPr>
            </a:lvl2pPr>
            <a:lvl3pPr lvl="2">
              <a:spcBef>
                <a:spcPts val="0"/>
              </a:spcBef>
              <a:spcAft>
                <a:spcPts val="0"/>
              </a:spcAft>
              <a:buClr>
                <a:srgbClr val="0A0049"/>
              </a:buClr>
              <a:buSzPts val="3200"/>
              <a:buNone/>
              <a:defRPr sz="3200">
                <a:solidFill>
                  <a:srgbClr val="0A0049"/>
                </a:solidFill>
              </a:defRPr>
            </a:lvl3pPr>
            <a:lvl4pPr lvl="3">
              <a:spcBef>
                <a:spcPts val="0"/>
              </a:spcBef>
              <a:spcAft>
                <a:spcPts val="0"/>
              </a:spcAft>
              <a:buClr>
                <a:srgbClr val="0A0049"/>
              </a:buClr>
              <a:buSzPts val="3200"/>
              <a:buNone/>
              <a:defRPr sz="3200">
                <a:solidFill>
                  <a:srgbClr val="0A0049"/>
                </a:solidFill>
              </a:defRPr>
            </a:lvl4pPr>
            <a:lvl5pPr lvl="4">
              <a:spcBef>
                <a:spcPts val="0"/>
              </a:spcBef>
              <a:spcAft>
                <a:spcPts val="0"/>
              </a:spcAft>
              <a:buClr>
                <a:srgbClr val="0A0049"/>
              </a:buClr>
              <a:buSzPts val="3200"/>
              <a:buNone/>
              <a:defRPr sz="3200">
                <a:solidFill>
                  <a:srgbClr val="0A0049"/>
                </a:solidFill>
              </a:defRPr>
            </a:lvl5pPr>
            <a:lvl6pPr lvl="5">
              <a:spcBef>
                <a:spcPts val="0"/>
              </a:spcBef>
              <a:spcAft>
                <a:spcPts val="0"/>
              </a:spcAft>
              <a:buClr>
                <a:srgbClr val="0A0049"/>
              </a:buClr>
              <a:buSzPts val="3200"/>
              <a:buNone/>
              <a:defRPr sz="3200">
                <a:solidFill>
                  <a:srgbClr val="0A0049"/>
                </a:solidFill>
              </a:defRPr>
            </a:lvl6pPr>
            <a:lvl7pPr lvl="6">
              <a:spcBef>
                <a:spcPts val="0"/>
              </a:spcBef>
              <a:spcAft>
                <a:spcPts val="0"/>
              </a:spcAft>
              <a:buClr>
                <a:srgbClr val="0A0049"/>
              </a:buClr>
              <a:buSzPts val="3200"/>
              <a:buNone/>
              <a:defRPr sz="3200">
                <a:solidFill>
                  <a:srgbClr val="0A0049"/>
                </a:solidFill>
              </a:defRPr>
            </a:lvl7pPr>
            <a:lvl8pPr lvl="7">
              <a:spcBef>
                <a:spcPts val="0"/>
              </a:spcBef>
              <a:spcAft>
                <a:spcPts val="0"/>
              </a:spcAft>
              <a:buClr>
                <a:srgbClr val="0A0049"/>
              </a:buClr>
              <a:buSzPts val="3200"/>
              <a:buNone/>
              <a:defRPr sz="3200">
                <a:solidFill>
                  <a:srgbClr val="0A0049"/>
                </a:solidFill>
              </a:defRPr>
            </a:lvl8pPr>
            <a:lvl9pPr lvl="8">
              <a:spcBef>
                <a:spcPts val="0"/>
              </a:spcBef>
              <a:spcAft>
                <a:spcPts val="0"/>
              </a:spcAft>
              <a:buClr>
                <a:srgbClr val="0A0049"/>
              </a:buClr>
              <a:buSzPts val="3200"/>
              <a:buNone/>
              <a:defRPr sz="3200">
                <a:solidFill>
                  <a:srgbClr val="0A0049"/>
                </a:solidFill>
              </a:defRPr>
            </a:lvl9pPr>
          </a:lstStyle>
          <a:p>
            <a:endParaRPr/>
          </a:p>
        </p:txBody>
      </p:sp>
      <p:sp>
        <p:nvSpPr>
          <p:cNvPr id="20" name="Google Shape;20;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Clr>
                <a:srgbClr val="000000"/>
              </a:buClr>
              <a:buSzPts val="1800"/>
              <a:buChar char="●"/>
              <a:defRPr>
                <a:solidFill>
                  <a:srgbClr val="000000"/>
                </a:solidFill>
              </a:defRPr>
            </a:lvl1pPr>
            <a:lvl2pPr marL="914400" lvl="1" indent="-317500">
              <a:spcBef>
                <a:spcPts val="0"/>
              </a:spcBef>
              <a:spcAft>
                <a:spcPts val="0"/>
              </a:spcAft>
              <a:buClr>
                <a:srgbClr val="000000"/>
              </a:buClr>
              <a:buSzPts val="1400"/>
              <a:buChar char="○"/>
              <a:defRPr>
                <a:solidFill>
                  <a:srgbClr val="000000"/>
                </a:solidFill>
              </a:defRPr>
            </a:lvl2pPr>
            <a:lvl3pPr marL="1371600" lvl="2" indent="-317500">
              <a:spcBef>
                <a:spcPts val="0"/>
              </a:spcBef>
              <a:spcAft>
                <a:spcPts val="0"/>
              </a:spcAft>
              <a:buClr>
                <a:srgbClr val="000000"/>
              </a:buClr>
              <a:buSzPts val="1400"/>
              <a:buChar char="■"/>
              <a:defRPr>
                <a:solidFill>
                  <a:srgbClr val="000000"/>
                </a:solidFill>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1" name="Google Shape;21;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sp>
        <p:nvSpPr>
          <p:cNvPr id="23" name="Google Shape;23;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4" name="Google Shape;24;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5" name="Google Shape;25;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6" name="Google Shape;26;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9" name="Google Shape;29;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sp>
        <p:nvSpPr>
          <p:cNvPr id="31" name="Google Shape;31;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2" name="Google Shape;32;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3" name="Google Shape;33;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4"/>
        <p:cNvGrpSpPr/>
        <p:nvPr/>
      </p:nvGrpSpPr>
      <p:grpSpPr>
        <a:xfrm>
          <a:off x="0" y="0"/>
          <a:ext cx="0" cy="0"/>
          <a:chOff x="0" y="0"/>
          <a:chExt cx="0" cy="0"/>
        </a:xfrm>
      </p:grpSpPr>
      <p:sp>
        <p:nvSpPr>
          <p:cNvPr id="35" name="Google Shape;35;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6" name="Google Shape;36;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sp>
        <p:nvSpPr>
          <p:cNvPr id="38" name="Google Shape;38;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0" name="Google Shape;40;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1" name="Google Shape;41;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2" name="Google Shape;42;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5" name="Google Shape;45;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6"/>
        <p:cNvGrpSpPr/>
        <p:nvPr/>
      </p:nvGrpSpPr>
      <p:grpSpPr>
        <a:xfrm>
          <a:off x="0" y="0"/>
          <a:ext cx="0" cy="0"/>
          <a:chOff x="0" y="0"/>
          <a:chExt cx="0" cy="0"/>
        </a:xfrm>
      </p:grpSpPr>
      <p:sp>
        <p:nvSpPr>
          <p:cNvPr id="47" name="Google Shape;47;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8" name="Google Shape;48;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9" name="Google Shape;49;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SzPts val="2800"/>
              <a:buFont typeface="DM Sans"/>
              <a:buNone/>
              <a:defRPr sz="2800">
                <a:latin typeface="DM Sans"/>
                <a:ea typeface="DM Sans"/>
                <a:cs typeface="DM Sans"/>
                <a:sym typeface="DM Sans"/>
              </a:defRPr>
            </a:lvl1pPr>
            <a:lvl2pPr lvl="1">
              <a:spcBef>
                <a:spcPts val="0"/>
              </a:spcBef>
              <a:spcAft>
                <a:spcPts val="0"/>
              </a:spcAft>
              <a:buClr>
                <a:schemeClr val="dk1"/>
              </a:buClr>
              <a:buSzPts val="2800"/>
              <a:buFont typeface="DM Sans"/>
              <a:buNone/>
              <a:defRPr sz="2800">
                <a:solidFill>
                  <a:schemeClr val="dk1"/>
                </a:solidFill>
                <a:latin typeface="DM Sans"/>
                <a:ea typeface="DM Sans"/>
                <a:cs typeface="DM Sans"/>
                <a:sym typeface="DM Sans"/>
              </a:defRPr>
            </a:lvl2pPr>
            <a:lvl3pPr lvl="2">
              <a:spcBef>
                <a:spcPts val="0"/>
              </a:spcBef>
              <a:spcAft>
                <a:spcPts val="0"/>
              </a:spcAft>
              <a:buClr>
                <a:schemeClr val="dk1"/>
              </a:buClr>
              <a:buSzPts val="2800"/>
              <a:buFont typeface="DM Sans"/>
              <a:buNone/>
              <a:defRPr sz="2800">
                <a:solidFill>
                  <a:schemeClr val="dk1"/>
                </a:solidFill>
                <a:latin typeface="DM Sans"/>
                <a:ea typeface="DM Sans"/>
                <a:cs typeface="DM Sans"/>
                <a:sym typeface="DM Sans"/>
              </a:defRPr>
            </a:lvl3pPr>
            <a:lvl4pPr lvl="3">
              <a:spcBef>
                <a:spcPts val="0"/>
              </a:spcBef>
              <a:spcAft>
                <a:spcPts val="0"/>
              </a:spcAft>
              <a:buClr>
                <a:schemeClr val="dk1"/>
              </a:buClr>
              <a:buSzPts val="2800"/>
              <a:buFont typeface="DM Sans"/>
              <a:buNone/>
              <a:defRPr sz="2800">
                <a:solidFill>
                  <a:schemeClr val="dk1"/>
                </a:solidFill>
                <a:latin typeface="DM Sans"/>
                <a:ea typeface="DM Sans"/>
                <a:cs typeface="DM Sans"/>
                <a:sym typeface="DM Sans"/>
              </a:defRPr>
            </a:lvl4pPr>
            <a:lvl5pPr lvl="4">
              <a:spcBef>
                <a:spcPts val="0"/>
              </a:spcBef>
              <a:spcAft>
                <a:spcPts val="0"/>
              </a:spcAft>
              <a:buClr>
                <a:schemeClr val="dk1"/>
              </a:buClr>
              <a:buSzPts val="2800"/>
              <a:buFont typeface="DM Sans"/>
              <a:buNone/>
              <a:defRPr sz="2800">
                <a:solidFill>
                  <a:schemeClr val="dk1"/>
                </a:solidFill>
                <a:latin typeface="DM Sans"/>
                <a:ea typeface="DM Sans"/>
                <a:cs typeface="DM Sans"/>
                <a:sym typeface="DM Sans"/>
              </a:defRPr>
            </a:lvl5pPr>
            <a:lvl6pPr lvl="5">
              <a:spcBef>
                <a:spcPts val="0"/>
              </a:spcBef>
              <a:spcAft>
                <a:spcPts val="0"/>
              </a:spcAft>
              <a:buClr>
                <a:schemeClr val="dk1"/>
              </a:buClr>
              <a:buSzPts val="2800"/>
              <a:buFont typeface="DM Sans"/>
              <a:buNone/>
              <a:defRPr sz="2800">
                <a:solidFill>
                  <a:schemeClr val="dk1"/>
                </a:solidFill>
                <a:latin typeface="DM Sans"/>
                <a:ea typeface="DM Sans"/>
                <a:cs typeface="DM Sans"/>
                <a:sym typeface="DM Sans"/>
              </a:defRPr>
            </a:lvl6pPr>
            <a:lvl7pPr lvl="6">
              <a:spcBef>
                <a:spcPts val="0"/>
              </a:spcBef>
              <a:spcAft>
                <a:spcPts val="0"/>
              </a:spcAft>
              <a:buClr>
                <a:schemeClr val="dk1"/>
              </a:buClr>
              <a:buSzPts val="2800"/>
              <a:buFont typeface="DM Sans"/>
              <a:buNone/>
              <a:defRPr sz="2800">
                <a:solidFill>
                  <a:schemeClr val="dk1"/>
                </a:solidFill>
                <a:latin typeface="DM Sans"/>
                <a:ea typeface="DM Sans"/>
                <a:cs typeface="DM Sans"/>
                <a:sym typeface="DM Sans"/>
              </a:defRPr>
            </a:lvl7pPr>
            <a:lvl8pPr lvl="7">
              <a:spcBef>
                <a:spcPts val="0"/>
              </a:spcBef>
              <a:spcAft>
                <a:spcPts val="0"/>
              </a:spcAft>
              <a:buClr>
                <a:schemeClr val="dk1"/>
              </a:buClr>
              <a:buSzPts val="2800"/>
              <a:buFont typeface="DM Sans"/>
              <a:buNone/>
              <a:defRPr sz="2800">
                <a:solidFill>
                  <a:schemeClr val="dk1"/>
                </a:solidFill>
                <a:latin typeface="DM Sans"/>
                <a:ea typeface="DM Sans"/>
                <a:cs typeface="DM Sans"/>
                <a:sym typeface="DM Sans"/>
              </a:defRPr>
            </a:lvl8pPr>
            <a:lvl9pPr lvl="8">
              <a:spcBef>
                <a:spcPts val="0"/>
              </a:spcBef>
              <a:spcAft>
                <a:spcPts val="0"/>
              </a:spcAft>
              <a:buClr>
                <a:schemeClr val="dk1"/>
              </a:buClr>
              <a:buSzPts val="2800"/>
              <a:buFont typeface="DM Sans"/>
              <a:buNone/>
              <a:defRPr sz="2800">
                <a:solidFill>
                  <a:schemeClr val="dk1"/>
                </a:solidFill>
                <a:latin typeface="DM Sans"/>
                <a:ea typeface="DM Sans"/>
                <a:cs typeface="DM Sans"/>
                <a:sym typeface="DM Sans"/>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SzPts val="1800"/>
              <a:buFont typeface="DM Sans"/>
              <a:buChar char="●"/>
              <a:defRPr sz="1800">
                <a:latin typeface="DM Sans"/>
                <a:ea typeface="DM Sans"/>
                <a:cs typeface="DM Sans"/>
                <a:sym typeface="DM Sans"/>
              </a:defRPr>
            </a:lvl1pPr>
            <a:lvl2pPr marL="914400" lvl="1" indent="-317500">
              <a:lnSpc>
                <a:spcPct val="115000"/>
              </a:lnSpc>
              <a:spcBef>
                <a:spcPts val="0"/>
              </a:spcBef>
              <a:spcAft>
                <a:spcPts val="0"/>
              </a:spcAft>
              <a:buSzPts val="1400"/>
              <a:buFont typeface="DM Sans"/>
              <a:buChar char="○"/>
              <a:defRPr>
                <a:latin typeface="DM Sans"/>
                <a:ea typeface="DM Sans"/>
                <a:cs typeface="DM Sans"/>
                <a:sym typeface="DM Sans"/>
              </a:defRPr>
            </a:lvl2pPr>
            <a:lvl3pPr marL="1371600" lvl="2" indent="-317500">
              <a:lnSpc>
                <a:spcPct val="115000"/>
              </a:lnSpc>
              <a:spcBef>
                <a:spcPts val="0"/>
              </a:spcBef>
              <a:spcAft>
                <a:spcPts val="0"/>
              </a:spcAft>
              <a:buSzPts val="1400"/>
              <a:buFont typeface="DM Sans"/>
              <a:buChar char="■"/>
              <a:defRPr>
                <a:latin typeface="DM Sans"/>
                <a:ea typeface="DM Sans"/>
                <a:cs typeface="DM Sans"/>
                <a:sym typeface="DM Sans"/>
              </a:defRPr>
            </a:lvl3pPr>
            <a:lvl4pPr marL="1828800" lvl="3" indent="-317500">
              <a:lnSpc>
                <a:spcPct val="115000"/>
              </a:lnSpc>
              <a:spcBef>
                <a:spcPts val="0"/>
              </a:spcBef>
              <a:spcAft>
                <a:spcPts val="0"/>
              </a:spcAft>
              <a:buSzPts val="1400"/>
              <a:buFont typeface="DM Sans"/>
              <a:buChar char="●"/>
              <a:defRPr>
                <a:latin typeface="DM Sans"/>
                <a:ea typeface="DM Sans"/>
                <a:cs typeface="DM Sans"/>
                <a:sym typeface="DM Sans"/>
              </a:defRPr>
            </a:lvl4pPr>
            <a:lvl5pPr marL="2286000" lvl="4" indent="-317500">
              <a:lnSpc>
                <a:spcPct val="115000"/>
              </a:lnSpc>
              <a:spcBef>
                <a:spcPts val="0"/>
              </a:spcBef>
              <a:spcAft>
                <a:spcPts val="0"/>
              </a:spcAft>
              <a:buSzPts val="1400"/>
              <a:buFont typeface="DM Sans"/>
              <a:buChar char="○"/>
              <a:defRPr>
                <a:latin typeface="DM Sans"/>
                <a:ea typeface="DM Sans"/>
                <a:cs typeface="DM Sans"/>
                <a:sym typeface="DM Sans"/>
              </a:defRPr>
            </a:lvl5pPr>
            <a:lvl6pPr marL="2743200" lvl="5" indent="-317500">
              <a:lnSpc>
                <a:spcPct val="115000"/>
              </a:lnSpc>
              <a:spcBef>
                <a:spcPts val="0"/>
              </a:spcBef>
              <a:spcAft>
                <a:spcPts val="0"/>
              </a:spcAft>
              <a:buSzPts val="1400"/>
              <a:buFont typeface="DM Sans"/>
              <a:buChar char="■"/>
              <a:defRPr>
                <a:latin typeface="DM Sans"/>
                <a:ea typeface="DM Sans"/>
                <a:cs typeface="DM Sans"/>
                <a:sym typeface="DM Sans"/>
              </a:defRPr>
            </a:lvl6pPr>
            <a:lvl7pPr marL="3200400" lvl="6" indent="-317500">
              <a:lnSpc>
                <a:spcPct val="115000"/>
              </a:lnSpc>
              <a:spcBef>
                <a:spcPts val="0"/>
              </a:spcBef>
              <a:spcAft>
                <a:spcPts val="0"/>
              </a:spcAft>
              <a:buSzPts val="1400"/>
              <a:buFont typeface="DM Sans"/>
              <a:buChar char="●"/>
              <a:defRPr>
                <a:latin typeface="DM Sans"/>
                <a:ea typeface="DM Sans"/>
                <a:cs typeface="DM Sans"/>
                <a:sym typeface="DM Sans"/>
              </a:defRPr>
            </a:lvl7pPr>
            <a:lvl8pPr marL="3657600" lvl="7" indent="-317500">
              <a:lnSpc>
                <a:spcPct val="115000"/>
              </a:lnSpc>
              <a:spcBef>
                <a:spcPts val="0"/>
              </a:spcBef>
              <a:spcAft>
                <a:spcPts val="0"/>
              </a:spcAft>
              <a:buSzPts val="1400"/>
              <a:buFont typeface="DM Sans"/>
              <a:buChar char="○"/>
              <a:defRPr>
                <a:latin typeface="DM Sans"/>
                <a:ea typeface="DM Sans"/>
                <a:cs typeface="DM Sans"/>
                <a:sym typeface="DM Sans"/>
              </a:defRPr>
            </a:lvl8pPr>
            <a:lvl9pPr marL="4114800" lvl="8" indent="-317500">
              <a:lnSpc>
                <a:spcPct val="115000"/>
              </a:lnSpc>
              <a:spcBef>
                <a:spcPts val="0"/>
              </a:spcBef>
              <a:spcAft>
                <a:spcPts val="0"/>
              </a:spcAft>
              <a:buSzPts val="1400"/>
              <a:buFont typeface="DM Sans"/>
              <a:buChar char="■"/>
              <a:defRPr>
                <a:latin typeface="DM Sans"/>
                <a:ea typeface="DM Sans"/>
                <a:cs typeface="DM Sans"/>
                <a:sym typeface="DM Sans"/>
              </a:defRPr>
            </a:lvl9pPr>
          </a:lstStyle>
          <a:p>
            <a:endParaRPr dirty="0"/>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2" name="TextBox 1">
            <a:extLst>
              <a:ext uri="{FF2B5EF4-FFF2-40B4-BE49-F238E27FC236}">
                <a16:creationId xmlns:a16="http://schemas.microsoft.com/office/drawing/2014/main" id="{77BAECB8-F10D-1323-BCB7-AE52456122DE}"/>
              </a:ext>
            </a:extLst>
          </p:cNvPr>
          <p:cNvSpPr txBox="1"/>
          <p:nvPr userDrawn="1"/>
        </p:nvSpPr>
        <p:spPr>
          <a:xfrm>
            <a:off x="363581" y="4139997"/>
            <a:ext cx="58949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1400" dirty="0">
                <a:solidFill>
                  <a:schemeClr val="bg1">
                    <a:lumMod val="50000"/>
                    <a:alpha val="30000"/>
                  </a:schemeClr>
                </a:solidFill>
                <a:latin typeface="Century Gothic" panose="020B0502020202020204" pitchFamily="34" charset="0"/>
              </a:rPr>
              <a:t>Andrejs Verhovods – Statistics Foundations Capstone, 2025</a:t>
            </a:r>
          </a:p>
          <a:p>
            <a:endParaRPr lang="en-GB" dirty="0"/>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microsoft.com/office/2014/relationships/chartEx" Target="../charts/chartEx1.xml"/><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6.png"/><Relationship Id="rId5" Type="http://schemas.microsoft.com/office/2014/relationships/chartEx" Target="../charts/chartEx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4"/>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lvl="0"/>
            <a:r>
              <a:rPr lang="en-GB" dirty="0"/>
              <a:t>Course Capstone Project</a:t>
            </a:r>
            <a:endParaRPr dirty="0"/>
          </a:p>
        </p:txBody>
      </p:sp>
      <p:sp>
        <p:nvSpPr>
          <p:cNvPr id="63" name="Google Shape;63;p14"/>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fontScale="92500"/>
          </a:bodyPr>
          <a:lstStyle/>
          <a:p>
            <a:pPr marL="0" lvl="0" indent="0"/>
            <a:r>
              <a:rPr lang="en-GB" dirty="0"/>
              <a:t>Analysing Facebook and AdWords Ad Performance</a:t>
            </a:r>
            <a:endParaRPr dirty="0"/>
          </a:p>
        </p:txBody>
      </p:sp>
      <p:sp>
        <p:nvSpPr>
          <p:cNvPr id="3" name="TextBox 2">
            <a:extLst>
              <a:ext uri="{FF2B5EF4-FFF2-40B4-BE49-F238E27FC236}">
                <a16:creationId xmlns:a16="http://schemas.microsoft.com/office/drawing/2014/main" id="{D8DD8572-872A-8384-5A3C-8870270C66F1}"/>
              </a:ext>
            </a:extLst>
          </p:cNvPr>
          <p:cNvSpPr txBox="1"/>
          <p:nvPr/>
        </p:nvSpPr>
        <p:spPr>
          <a:xfrm>
            <a:off x="59961" y="3710066"/>
            <a:ext cx="8919147" cy="738664"/>
          </a:xfrm>
          <a:prstGeom prst="rect">
            <a:avLst/>
          </a:prstGeom>
          <a:noFill/>
        </p:spPr>
        <p:txBody>
          <a:bodyPr wrap="square" rtlCol="0">
            <a:spAutoFit/>
          </a:bodyPr>
          <a:lstStyle/>
          <a:p>
            <a:r>
              <a:rPr lang="en-GB" b="1" dirty="0"/>
              <a:t>Prepared by:</a:t>
            </a:r>
            <a:r>
              <a:rPr lang="en-GB" dirty="0"/>
              <a:t> Andrejs Verhovods</a:t>
            </a:r>
            <a:br>
              <a:rPr lang="en-GB" dirty="0"/>
            </a:br>
            <a:r>
              <a:rPr lang="en-GB" b="1" dirty="0"/>
              <a:t>Course:</a:t>
            </a:r>
            <a:r>
              <a:rPr lang="en-GB" dirty="0"/>
              <a:t> Statistics Foundations</a:t>
            </a:r>
            <a:br>
              <a:rPr lang="en-GB" dirty="0"/>
            </a:br>
            <a:r>
              <a:rPr lang="en-GB" b="1" dirty="0"/>
              <a:t>Date:</a:t>
            </a:r>
            <a:r>
              <a:rPr lang="en-GB" dirty="0"/>
              <a:t> November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a:t>Finding the Middle</a:t>
            </a:r>
            <a:endParaRPr sz="2800"/>
          </a:p>
        </p:txBody>
      </p:sp>
      <p:sp>
        <p:nvSpPr>
          <p:cNvPr id="69" name="Google Shape;69;p15"/>
          <p:cNvSpPr txBox="1">
            <a:spLocks noGrp="1"/>
          </p:cNvSpPr>
          <p:nvPr>
            <p:ph type="body" idx="1"/>
          </p:nvPr>
        </p:nvSpPr>
        <p:spPr>
          <a:xfrm>
            <a:off x="311700" y="1152475"/>
            <a:ext cx="85206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200"/>
              </a:spcAft>
              <a:buNone/>
            </a:pPr>
            <a:r>
              <a:rPr lang="en" sz="1600"/>
              <a:t>Mean, Median, and Mode help you compare data. Below, list the mean, median, and mode of the clicks in the provided data.</a:t>
            </a:r>
            <a:endParaRPr sz="1600"/>
          </a:p>
        </p:txBody>
      </p:sp>
      <p:sp>
        <p:nvSpPr>
          <p:cNvPr id="70" name="Google Shape;70;p15"/>
          <p:cNvSpPr txBox="1"/>
          <p:nvPr/>
        </p:nvSpPr>
        <p:spPr>
          <a:xfrm>
            <a:off x="311700" y="1932775"/>
            <a:ext cx="73446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a:solidFill>
                  <a:srgbClr val="434343"/>
                </a:solidFill>
                <a:latin typeface="DM Sans"/>
                <a:ea typeface="DM Sans"/>
                <a:cs typeface="DM Sans"/>
                <a:sym typeface="DM Sans"/>
              </a:rPr>
              <a:t>Mean: 60.38</a:t>
            </a:r>
            <a:endParaRPr sz="2400">
              <a:solidFill>
                <a:srgbClr val="434343"/>
              </a:solidFill>
              <a:latin typeface="DM Sans"/>
              <a:ea typeface="DM Sans"/>
              <a:cs typeface="DM Sans"/>
              <a:sym typeface="DM Sans"/>
            </a:endParaRPr>
          </a:p>
        </p:txBody>
      </p:sp>
      <p:sp>
        <p:nvSpPr>
          <p:cNvPr id="71" name="Google Shape;71;p15"/>
          <p:cNvSpPr txBox="1"/>
          <p:nvPr/>
        </p:nvSpPr>
        <p:spPr>
          <a:xfrm>
            <a:off x="311700" y="2500788"/>
            <a:ext cx="73446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a:solidFill>
                  <a:srgbClr val="434343"/>
                </a:solidFill>
                <a:latin typeface="DM Sans"/>
                <a:ea typeface="DM Sans"/>
                <a:cs typeface="DM Sans"/>
                <a:sym typeface="DM Sans"/>
              </a:rPr>
              <a:t>Median: 60</a:t>
            </a:r>
            <a:endParaRPr sz="2400">
              <a:solidFill>
                <a:srgbClr val="434343"/>
              </a:solidFill>
              <a:latin typeface="DM Sans"/>
              <a:ea typeface="DM Sans"/>
              <a:cs typeface="DM Sans"/>
              <a:sym typeface="DM Sans"/>
            </a:endParaRPr>
          </a:p>
        </p:txBody>
      </p:sp>
      <p:sp>
        <p:nvSpPr>
          <p:cNvPr id="72" name="Google Shape;72;p15"/>
          <p:cNvSpPr txBox="1"/>
          <p:nvPr/>
        </p:nvSpPr>
        <p:spPr>
          <a:xfrm>
            <a:off x="311700" y="3068800"/>
            <a:ext cx="73446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a:solidFill>
                  <a:srgbClr val="434343"/>
                </a:solidFill>
                <a:latin typeface="DM Sans"/>
                <a:ea typeface="DM Sans"/>
                <a:cs typeface="DM Sans"/>
                <a:sym typeface="DM Sans"/>
              </a:rPr>
              <a:t>Mode: 78</a:t>
            </a:r>
            <a:endParaRPr sz="2400">
              <a:solidFill>
                <a:srgbClr val="434343"/>
              </a:solidFill>
              <a:latin typeface="DM Sans"/>
              <a:ea typeface="DM Sans"/>
              <a:cs typeface="DM Sans"/>
              <a:sym typeface="DM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a:t>Finding the Middle</a:t>
            </a:r>
            <a:endParaRPr sz="2800"/>
          </a:p>
        </p:txBody>
      </p:sp>
      <p:sp>
        <p:nvSpPr>
          <p:cNvPr id="78" name="Google Shape;78;p16"/>
          <p:cNvSpPr txBox="1">
            <a:spLocks noGrp="1"/>
          </p:cNvSpPr>
          <p:nvPr>
            <p:ph type="body" idx="1"/>
          </p:nvPr>
        </p:nvSpPr>
        <p:spPr>
          <a:xfrm>
            <a:off x="311700" y="1152475"/>
            <a:ext cx="85206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200"/>
              </a:spcAft>
              <a:buNone/>
            </a:pPr>
            <a:r>
              <a:rPr lang="en" sz="1600"/>
              <a:t>Mean, Median, and Mode help you compare data. Below, list the mean, median, and mode of the conversions in the provided data.</a:t>
            </a:r>
            <a:endParaRPr sz="1600"/>
          </a:p>
        </p:txBody>
      </p:sp>
      <p:sp>
        <p:nvSpPr>
          <p:cNvPr id="79" name="Google Shape;79;p16"/>
          <p:cNvSpPr txBox="1"/>
          <p:nvPr/>
        </p:nvSpPr>
        <p:spPr>
          <a:xfrm>
            <a:off x="311700" y="1932800"/>
            <a:ext cx="73446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a:solidFill>
                  <a:srgbClr val="434343"/>
                </a:solidFill>
                <a:latin typeface="DM Sans"/>
                <a:ea typeface="DM Sans"/>
                <a:cs typeface="DM Sans"/>
                <a:sym typeface="DM Sans"/>
              </a:rPr>
              <a:t>Mean: 5.98</a:t>
            </a:r>
            <a:endParaRPr sz="2400">
              <a:solidFill>
                <a:srgbClr val="434343"/>
              </a:solidFill>
              <a:latin typeface="DM Sans"/>
              <a:ea typeface="DM Sans"/>
              <a:cs typeface="DM Sans"/>
              <a:sym typeface="DM Sans"/>
            </a:endParaRPr>
          </a:p>
        </p:txBody>
      </p:sp>
      <p:sp>
        <p:nvSpPr>
          <p:cNvPr id="80" name="Google Shape;80;p16"/>
          <p:cNvSpPr txBox="1"/>
          <p:nvPr/>
        </p:nvSpPr>
        <p:spPr>
          <a:xfrm>
            <a:off x="311700" y="2552913"/>
            <a:ext cx="73446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a:solidFill>
                  <a:srgbClr val="434343"/>
                </a:solidFill>
                <a:latin typeface="DM Sans"/>
                <a:ea typeface="DM Sans"/>
                <a:cs typeface="DM Sans"/>
                <a:sym typeface="DM Sans"/>
              </a:rPr>
              <a:t>Median: 6</a:t>
            </a:r>
            <a:endParaRPr sz="2400">
              <a:solidFill>
                <a:srgbClr val="434343"/>
              </a:solidFill>
              <a:latin typeface="DM Sans"/>
              <a:ea typeface="DM Sans"/>
              <a:cs typeface="DM Sans"/>
              <a:sym typeface="DM Sans"/>
            </a:endParaRPr>
          </a:p>
        </p:txBody>
      </p:sp>
      <p:sp>
        <p:nvSpPr>
          <p:cNvPr id="81" name="Google Shape;81;p16"/>
          <p:cNvSpPr txBox="1"/>
          <p:nvPr/>
        </p:nvSpPr>
        <p:spPr>
          <a:xfrm>
            <a:off x="311700" y="3068800"/>
            <a:ext cx="73446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a:solidFill>
                  <a:srgbClr val="434343"/>
                </a:solidFill>
                <a:latin typeface="DM Sans"/>
                <a:ea typeface="DM Sans"/>
                <a:cs typeface="DM Sans"/>
                <a:sym typeface="DM Sans"/>
              </a:rPr>
              <a:t>Mode: 5</a:t>
            </a:r>
            <a:endParaRPr sz="2400">
              <a:solidFill>
                <a:srgbClr val="434343"/>
              </a:solidFill>
              <a:latin typeface="DM Sans"/>
              <a:ea typeface="DM Sans"/>
              <a:cs typeface="DM Sans"/>
              <a:sym typeface="DM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a:t>Standard Deviation</a:t>
            </a:r>
            <a:endParaRPr sz="2800"/>
          </a:p>
        </p:txBody>
      </p:sp>
      <p:sp>
        <p:nvSpPr>
          <p:cNvPr id="87" name="Google Shape;87;p17"/>
          <p:cNvSpPr txBox="1">
            <a:spLocks noGrp="1"/>
          </p:cNvSpPr>
          <p:nvPr>
            <p:ph type="body" idx="1"/>
          </p:nvPr>
        </p:nvSpPr>
        <p:spPr>
          <a:xfrm>
            <a:off x="311700" y="1152475"/>
            <a:ext cx="8520600" cy="11514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1600"/>
              <a:t>Determining variance in data helps you understand how much the data varies from the average, which helps identify consistency or volatility in performance.</a:t>
            </a:r>
            <a:endParaRPr sz="1600"/>
          </a:p>
          <a:p>
            <a:pPr marL="0" lvl="0" indent="0" algn="l" rtl="0">
              <a:spcBef>
                <a:spcPts val="1200"/>
              </a:spcBef>
              <a:spcAft>
                <a:spcPts val="1200"/>
              </a:spcAft>
              <a:buNone/>
            </a:pPr>
            <a:r>
              <a:rPr lang="en" sz="1600"/>
              <a:t>Below, enter the standard deviation of the provided data.</a:t>
            </a:r>
            <a:endParaRPr sz="1600"/>
          </a:p>
        </p:txBody>
      </p:sp>
      <p:sp>
        <p:nvSpPr>
          <p:cNvPr id="88" name="Google Shape;88;p17"/>
          <p:cNvSpPr txBox="1"/>
          <p:nvPr/>
        </p:nvSpPr>
        <p:spPr>
          <a:xfrm>
            <a:off x="256625" y="2284725"/>
            <a:ext cx="73446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a:solidFill>
                  <a:srgbClr val="434343"/>
                </a:solidFill>
                <a:latin typeface="DM Sans"/>
                <a:ea typeface="DM Sans"/>
                <a:cs typeface="DM Sans"/>
                <a:sym typeface="DM Sans"/>
              </a:rPr>
              <a:t>Standard Deviation of Clicks: 14.37</a:t>
            </a:r>
            <a:endParaRPr sz="2400">
              <a:solidFill>
                <a:srgbClr val="434343"/>
              </a:solidFill>
              <a:latin typeface="DM Sans"/>
              <a:ea typeface="DM Sans"/>
              <a:cs typeface="DM Sans"/>
              <a:sym typeface="DM Sans"/>
            </a:endParaRPr>
          </a:p>
        </p:txBody>
      </p:sp>
      <p:sp>
        <p:nvSpPr>
          <p:cNvPr id="89" name="Google Shape;89;p17"/>
          <p:cNvSpPr txBox="1"/>
          <p:nvPr/>
        </p:nvSpPr>
        <p:spPr>
          <a:xfrm>
            <a:off x="311700" y="2825050"/>
            <a:ext cx="73446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a:solidFill>
                  <a:srgbClr val="434343"/>
                </a:solidFill>
                <a:latin typeface="DM Sans"/>
                <a:ea typeface="DM Sans"/>
                <a:cs typeface="DM Sans"/>
                <a:sym typeface="DM Sans"/>
              </a:rPr>
              <a:t>Standard Deviation of Conversions: 1.63</a:t>
            </a:r>
            <a:endParaRPr sz="2400">
              <a:solidFill>
                <a:srgbClr val="434343"/>
              </a:solidFill>
              <a:latin typeface="DM Sans"/>
              <a:ea typeface="DM Sans"/>
              <a:cs typeface="DM Sans"/>
              <a:sym typeface="DM Sans"/>
            </a:endParaRPr>
          </a:p>
        </p:txBody>
      </p:sp>
      <p:sp>
        <p:nvSpPr>
          <p:cNvPr id="90" name="Google Shape;90;p17"/>
          <p:cNvSpPr txBox="1"/>
          <p:nvPr/>
        </p:nvSpPr>
        <p:spPr>
          <a:xfrm>
            <a:off x="408975" y="3743575"/>
            <a:ext cx="8139900" cy="128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AdWords conversions show </a:t>
            </a:r>
            <a:r>
              <a:rPr lang="en" b="1">
                <a:solidFill>
                  <a:schemeClr val="dk1"/>
                </a:solidFill>
              </a:rPr>
              <a:t>low variability</a:t>
            </a:r>
            <a:r>
              <a:rPr lang="en">
                <a:solidFill>
                  <a:schemeClr val="dk1"/>
                </a:solidFill>
              </a:rPr>
              <a:t>, indicating consistent performance, while clicks vary more across campaigns.</a:t>
            </a:r>
            <a:endParaRPr sz="2100">
              <a:latin typeface="DM Sans"/>
              <a:ea typeface="DM Sans"/>
              <a:cs typeface="DM Sans"/>
              <a:sym typeface="DM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a:t>Frequency and Contingency Tables</a:t>
            </a:r>
            <a:endParaRPr sz="2800"/>
          </a:p>
        </p:txBody>
      </p:sp>
      <p:sp>
        <p:nvSpPr>
          <p:cNvPr id="96" name="Google Shape;96;p18"/>
          <p:cNvSpPr txBox="1">
            <a:spLocks noGrp="1"/>
          </p:cNvSpPr>
          <p:nvPr>
            <p:ph type="body" idx="1"/>
          </p:nvPr>
        </p:nvSpPr>
        <p:spPr>
          <a:xfrm>
            <a:off x="115075" y="1073825"/>
            <a:ext cx="8520600" cy="15885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1600"/>
              <a:t>Understanding how often something happens is important to identifying trends and patterns in your data.</a:t>
            </a:r>
            <a:endParaRPr sz="1600"/>
          </a:p>
          <a:p>
            <a:pPr marL="0" lvl="0" indent="0" algn="l" rtl="0">
              <a:spcBef>
                <a:spcPts val="1200"/>
              </a:spcBef>
              <a:spcAft>
                <a:spcPts val="0"/>
              </a:spcAft>
              <a:buNone/>
            </a:pPr>
            <a:endParaRPr sz="1600"/>
          </a:p>
          <a:p>
            <a:pPr marL="0" lvl="0" indent="0" algn="l" rtl="0">
              <a:spcBef>
                <a:spcPts val="1200"/>
              </a:spcBef>
              <a:spcAft>
                <a:spcPts val="1200"/>
              </a:spcAft>
              <a:buNone/>
            </a:pPr>
            <a:endParaRPr sz="1600"/>
          </a:p>
        </p:txBody>
      </p:sp>
      <p:sp>
        <p:nvSpPr>
          <p:cNvPr id="97" name="Google Shape;97;p18"/>
          <p:cNvSpPr txBox="1"/>
          <p:nvPr/>
        </p:nvSpPr>
        <p:spPr>
          <a:xfrm>
            <a:off x="115075" y="1840350"/>
            <a:ext cx="3455400" cy="309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This table shows how often different conversion ranges occur for AdWords ads.</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Most AdWords conversions fall between </a:t>
            </a:r>
            <a:r>
              <a:rPr lang="en" b="1">
                <a:solidFill>
                  <a:schemeClr val="dk1"/>
                </a:solidFill>
              </a:rPr>
              <a:t>6–10</a:t>
            </a:r>
            <a:r>
              <a:rPr lang="en">
                <a:solidFill>
                  <a:schemeClr val="dk1"/>
                </a:solidFill>
              </a:rPr>
              <a:t>, while very few campaigns exceed 10 conversions.</a:t>
            </a:r>
            <a:endParaRPr>
              <a:solidFill>
                <a:schemeClr val="dk1"/>
              </a:solidFill>
            </a:endParaRPr>
          </a:p>
          <a:p>
            <a:pPr marL="0" lvl="0" indent="0" algn="l" rtl="0">
              <a:spcBef>
                <a:spcPts val="0"/>
              </a:spcBef>
              <a:spcAft>
                <a:spcPts val="0"/>
              </a:spcAft>
              <a:buNone/>
            </a:pPr>
            <a:r>
              <a:rPr lang="en">
                <a:solidFill>
                  <a:schemeClr val="dk1"/>
                </a:solidFill>
              </a:rPr>
              <a:t>This indicates that AdWords ads tend to perform more consistently but generate fewer high-conversion campaigns compared to Facebook.</a:t>
            </a:r>
            <a:endParaRPr sz="1700">
              <a:solidFill>
                <a:schemeClr val="dk1"/>
              </a:solidFill>
            </a:endParaRPr>
          </a:p>
        </p:txBody>
      </p:sp>
      <p:pic>
        <p:nvPicPr>
          <p:cNvPr id="98" name="Google Shape;98;p18"/>
          <p:cNvPicPr preferRelativeResize="0"/>
          <p:nvPr/>
        </p:nvPicPr>
        <p:blipFill>
          <a:blip r:embed="rId3">
            <a:alphaModFix/>
          </a:blip>
          <a:stretch>
            <a:fillRect/>
          </a:stretch>
        </p:blipFill>
        <p:spPr>
          <a:xfrm>
            <a:off x="5061700" y="2532450"/>
            <a:ext cx="1354300" cy="1714500"/>
          </a:xfrm>
          <a:prstGeom prst="rect">
            <a:avLst/>
          </a:prstGeom>
          <a:noFill/>
          <a:ln>
            <a:noFill/>
          </a:ln>
        </p:spPr>
      </p:pic>
      <p:pic>
        <p:nvPicPr>
          <p:cNvPr id="99" name="Google Shape;99;p18"/>
          <p:cNvPicPr preferRelativeResize="0"/>
          <p:nvPr/>
        </p:nvPicPr>
        <p:blipFill>
          <a:blip r:embed="rId4">
            <a:alphaModFix/>
          </a:blip>
          <a:stretch>
            <a:fillRect/>
          </a:stretch>
        </p:blipFill>
        <p:spPr>
          <a:xfrm>
            <a:off x="6368800" y="2479075"/>
            <a:ext cx="1354300" cy="16954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9"/>
          <p:cNvSpPr txBox="1">
            <a:spLocks noGrp="1"/>
          </p:cNvSpPr>
          <p:nvPr>
            <p:ph type="title"/>
          </p:nvPr>
        </p:nvSpPr>
        <p:spPr>
          <a:xfrm>
            <a:off x="4740925" y="2535054"/>
            <a:ext cx="3822600" cy="28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a:t>Scatter Plot</a:t>
            </a:r>
            <a:endParaRPr sz="2800"/>
          </a:p>
        </p:txBody>
      </p:sp>
      <p:sp>
        <p:nvSpPr>
          <p:cNvPr id="105" name="Google Shape;105;p19"/>
          <p:cNvSpPr txBox="1">
            <a:spLocks noGrp="1"/>
          </p:cNvSpPr>
          <p:nvPr>
            <p:ph type="body" idx="1"/>
          </p:nvPr>
        </p:nvSpPr>
        <p:spPr>
          <a:xfrm>
            <a:off x="182975" y="1028625"/>
            <a:ext cx="8520600" cy="1482300"/>
          </a:xfrm>
          <a:prstGeom prst="rect">
            <a:avLst/>
          </a:prstGeom>
        </p:spPr>
        <p:txBody>
          <a:bodyPr spcFirstLastPara="1" wrap="square" lIns="91425" tIns="91425" rIns="91425" bIns="91425" anchor="t" anchorCtr="0">
            <a:spAutoFit/>
          </a:bodyPr>
          <a:lstStyle/>
          <a:p>
            <a:pPr marL="0" lvl="0" indent="0" algn="l" rtl="0">
              <a:spcBef>
                <a:spcPts val="1200"/>
              </a:spcBef>
              <a:spcAft>
                <a:spcPts val="0"/>
              </a:spcAft>
              <a:buClr>
                <a:schemeClr val="dk1"/>
              </a:buClr>
              <a:buSzPts val="1100"/>
              <a:buFont typeface="Arial"/>
              <a:buNone/>
            </a:pPr>
            <a:r>
              <a:rPr lang="en" sz="1400">
                <a:solidFill>
                  <a:schemeClr val="dk1"/>
                </a:solidFill>
                <a:latin typeface="Arial"/>
                <a:ea typeface="Arial"/>
                <a:cs typeface="Arial"/>
                <a:sym typeface="Arial"/>
              </a:rPr>
              <a:t>Understanding the relationship between clicks and conversions helps identify whether increased ad engagement leads to higher conversions.</a:t>
            </a:r>
            <a:endParaRPr sz="1400">
              <a:solidFill>
                <a:schemeClr val="dk1"/>
              </a:solidFill>
              <a:latin typeface="Arial"/>
              <a:ea typeface="Arial"/>
              <a:cs typeface="Arial"/>
              <a:sym typeface="Arial"/>
            </a:endParaRPr>
          </a:p>
          <a:p>
            <a:pPr marL="0" lvl="0" indent="0" algn="l" rtl="0">
              <a:spcBef>
                <a:spcPts val="1200"/>
              </a:spcBef>
              <a:spcAft>
                <a:spcPts val="0"/>
              </a:spcAft>
              <a:buClr>
                <a:schemeClr val="dk1"/>
              </a:buClr>
              <a:buSzPts val="1100"/>
              <a:buFont typeface="Arial"/>
              <a:buNone/>
            </a:pPr>
            <a:r>
              <a:rPr lang="en" sz="1400">
                <a:solidFill>
                  <a:schemeClr val="dk1"/>
                </a:solidFill>
                <a:latin typeface="Arial"/>
                <a:ea typeface="Arial"/>
                <a:cs typeface="Arial"/>
                <a:sym typeface="Arial"/>
              </a:rPr>
              <a:t>The scatter plot below shows the relationship between </a:t>
            </a:r>
            <a:r>
              <a:rPr lang="en" sz="1400" b="1">
                <a:solidFill>
                  <a:schemeClr val="dk1"/>
                </a:solidFill>
                <a:latin typeface="Arial"/>
                <a:ea typeface="Arial"/>
                <a:cs typeface="Arial"/>
                <a:sym typeface="Arial"/>
              </a:rPr>
              <a:t>AdWords Ad Clicks</a:t>
            </a:r>
            <a:r>
              <a:rPr lang="en" sz="1400">
                <a:solidFill>
                  <a:schemeClr val="dk1"/>
                </a:solidFill>
                <a:latin typeface="Arial"/>
                <a:ea typeface="Arial"/>
                <a:cs typeface="Arial"/>
                <a:sym typeface="Arial"/>
              </a:rPr>
              <a:t> and </a:t>
            </a:r>
            <a:r>
              <a:rPr lang="en" sz="1400" b="1">
                <a:solidFill>
                  <a:schemeClr val="dk1"/>
                </a:solidFill>
                <a:latin typeface="Arial"/>
                <a:ea typeface="Arial"/>
                <a:cs typeface="Arial"/>
                <a:sym typeface="Arial"/>
              </a:rPr>
              <a:t>Conversions</a:t>
            </a:r>
            <a:r>
              <a:rPr lang="en" sz="1400">
                <a:solidFill>
                  <a:schemeClr val="dk1"/>
                </a:solidFill>
                <a:latin typeface="Arial"/>
                <a:ea typeface="Arial"/>
                <a:cs typeface="Arial"/>
                <a:sym typeface="Arial"/>
              </a:rPr>
              <a:t>.</a:t>
            </a:r>
            <a:endParaRPr sz="1400">
              <a:solidFill>
                <a:schemeClr val="dk1"/>
              </a:solidFill>
              <a:latin typeface="Arial"/>
              <a:ea typeface="Arial"/>
              <a:cs typeface="Arial"/>
              <a:sym typeface="Arial"/>
            </a:endParaRPr>
          </a:p>
          <a:p>
            <a:pPr marL="0" lvl="0" indent="0" algn="l" rtl="0">
              <a:spcBef>
                <a:spcPts val="1200"/>
              </a:spcBef>
              <a:spcAft>
                <a:spcPts val="1200"/>
              </a:spcAft>
              <a:buNone/>
            </a:pPr>
            <a:endParaRPr sz="1600"/>
          </a:p>
        </p:txBody>
      </p:sp>
      <p:sp>
        <p:nvSpPr>
          <p:cNvPr id="106" name="Google Shape;106;p19"/>
          <p:cNvSpPr txBox="1"/>
          <p:nvPr/>
        </p:nvSpPr>
        <p:spPr>
          <a:xfrm>
            <a:off x="182975" y="2186025"/>
            <a:ext cx="3660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rgbClr val="434343"/>
                </a:solidFill>
                <a:latin typeface="DM Sans"/>
                <a:ea typeface="DM Sans"/>
                <a:cs typeface="DM Sans"/>
                <a:sym typeface="DM Sans"/>
              </a:rPr>
              <a:t>Correlation coefficient: 0.45</a:t>
            </a:r>
            <a:endParaRPr sz="1800">
              <a:solidFill>
                <a:srgbClr val="434343"/>
              </a:solidFill>
              <a:latin typeface="DM Sans"/>
              <a:ea typeface="DM Sans"/>
              <a:cs typeface="DM Sans"/>
              <a:sym typeface="DM Sans"/>
            </a:endParaRPr>
          </a:p>
        </p:txBody>
      </p:sp>
      <p:pic>
        <p:nvPicPr>
          <p:cNvPr id="107" name="Google Shape;107;p19"/>
          <p:cNvPicPr preferRelativeResize="0"/>
          <p:nvPr/>
        </p:nvPicPr>
        <p:blipFill>
          <a:blip r:embed="rId3">
            <a:alphaModFix/>
          </a:blip>
          <a:stretch>
            <a:fillRect/>
          </a:stretch>
        </p:blipFill>
        <p:spPr>
          <a:xfrm>
            <a:off x="4792475" y="2382475"/>
            <a:ext cx="3190474" cy="2392850"/>
          </a:xfrm>
          <a:prstGeom prst="rect">
            <a:avLst/>
          </a:prstGeom>
          <a:noFill/>
          <a:ln>
            <a:noFill/>
          </a:ln>
        </p:spPr>
      </p:pic>
      <p:sp>
        <p:nvSpPr>
          <p:cNvPr id="108" name="Google Shape;108;p19"/>
          <p:cNvSpPr txBox="1"/>
          <p:nvPr/>
        </p:nvSpPr>
        <p:spPr>
          <a:xfrm>
            <a:off x="4740913" y="2001525"/>
            <a:ext cx="3660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rgbClr val="434343"/>
              </a:solidFill>
              <a:latin typeface="DM Sans"/>
              <a:ea typeface="DM Sans"/>
              <a:cs typeface="DM Sans"/>
              <a:sym typeface="DM Sans"/>
            </a:endParaRPr>
          </a:p>
        </p:txBody>
      </p:sp>
      <p:sp>
        <p:nvSpPr>
          <p:cNvPr id="109" name="Google Shape;109;p19"/>
          <p:cNvSpPr txBox="1"/>
          <p:nvPr/>
        </p:nvSpPr>
        <p:spPr>
          <a:xfrm>
            <a:off x="81300" y="2760500"/>
            <a:ext cx="4490700" cy="184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This indicates a </a:t>
            </a:r>
            <a:r>
              <a:rPr lang="en" b="1">
                <a:solidFill>
                  <a:schemeClr val="dk1"/>
                </a:solidFill>
              </a:rPr>
              <a:t>moderate positive relationship</a:t>
            </a:r>
            <a:r>
              <a:rPr lang="en">
                <a:solidFill>
                  <a:schemeClr val="dk1"/>
                </a:solidFill>
              </a:rPr>
              <a:t>, meaning that as AdWords Ad Clicks increase, Conversions also tend to rise — but less consistently than with Facebook ads.</a:t>
            </a:r>
            <a:endParaRPr>
              <a:solidFill>
                <a:schemeClr val="dk1"/>
              </a:solidFill>
            </a:endParaRPr>
          </a:p>
          <a:p>
            <a:pPr marL="0" lvl="0" indent="0" algn="l" rtl="0">
              <a:spcBef>
                <a:spcPts val="0"/>
              </a:spcBef>
              <a:spcAft>
                <a:spcPts val="0"/>
              </a:spcAft>
              <a:buNone/>
            </a:pPr>
            <a:r>
              <a:rPr lang="en">
                <a:solidFill>
                  <a:schemeClr val="dk1"/>
                </a:solidFill>
              </a:rPr>
              <a:t>This suggests that AdWords campaigns generate conversions, but the relationship between clicks and conversions is weaker overall.</a:t>
            </a:r>
            <a:endParaRPr sz="1900">
              <a:latin typeface="DM Sans"/>
              <a:ea typeface="DM Sans"/>
              <a:cs typeface="DM Sans"/>
              <a:sym typeface="DM Sans"/>
            </a:endParaRPr>
          </a:p>
        </p:txBody>
      </p:sp>
      <p:pic>
        <p:nvPicPr>
          <p:cNvPr id="110" name="Google Shape;110;p19" title="Chart"/>
          <p:cNvPicPr preferRelativeResize="0"/>
          <p:nvPr/>
        </p:nvPicPr>
        <p:blipFill>
          <a:blip r:embed="rId4">
            <a:alphaModFix/>
          </a:blip>
          <a:stretch>
            <a:fillRect/>
          </a:stretch>
        </p:blipFill>
        <p:spPr>
          <a:xfrm>
            <a:off x="4786296" y="2316625"/>
            <a:ext cx="3731760" cy="2524549"/>
          </a:xfrm>
          <a:prstGeom prst="rect">
            <a:avLst/>
          </a:prstGeom>
          <a:noFill/>
          <a:ln>
            <a:noFill/>
          </a:ln>
        </p:spPr>
      </p:pic>
      <p:sp>
        <p:nvSpPr>
          <p:cNvPr id="111" name="Google Shape;111;p19"/>
          <p:cNvSpPr txBox="1"/>
          <p:nvPr/>
        </p:nvSpPr>
        <p:spPr>
          <a:xfrm>
            <a:off x="110100" y="464025"/>
            <a:ext cx="4152600" cy="50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latin typeface="DM Sans"/>
                <a:ea typeface="DM Sans"/>
                <a:cs typeface="DM Sans"/>
                <a:sym typeface="DM Sans"/>
              </a:rPr>
              <a:t>Scatter Plot</a:t>
            </a:r>
            <a:endParaRPr sz="1800">
              <a:latin typeface="DM Sans"/>
              <a:ea typeface="DM Sans"/>
              <a:cs typeface="DM Sans"/>
              <a:sym typeface="DM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a:t>Sample Type</a:t>
            </a:r>
            <a:endParaRPr sz="2800"/>
          </a:p>
        </p:txBody>
      </p:sp>
      <p:sp>
        <p:nvSpPr>
          <p:cNvPr id="122" name="Google Shape;122;p21"/>
          <p:cNvSpPr txBox="1">
            <a:spLocks noGrp="1"/>
          </p:cNvSpPr>
          <p:nvPr>
            <p:ph type="body" idx="1"/>
          </p:nvPr>
        </p:nvSpPr>
        <p:spPr>
          <a:xfrm>
            <a:off x="311700" y="1152475"/>
            <a:ext cx="85206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200"/>
              </a:spcAft>
              <a:buNone/>
            </a:pPr>
            <a:r>
              <a:rPr lang="en" sz="1600"/>
              <a:t>It’s important to understand the sample you’re using in your analysis. Fill in the information below about the sample you have received:</a:t>
            </a:r>
            <a:endParaRPr sz="1600"/>
          </a:p>
        </p:txBody>
      </p:sp>
      <mc:AlternateContent xmlns:mc="http://schemas.openxmlformats.org/markup-compatibility/2006" xmlns:cx1="http://schemas.microsoft.com/office/drawing/2015/9/8/chartex">
        <mc:Choice Requires="cx1">
          <p:graphicFrame>
            <p:nvGraphicFramePr>
              <p:cNvPr id="2" name="Chart 1">
                <a:extLst>
                  <a:ext uri="{FF2B5EF4-FFF2-40B4-BE49-F238E27FC236}">
                    <a16:creationId xmlns:a16="http://schemas.microsoft.com/office/drawing/2014/main" id="{3C3751EC-DEBD-B848-9F9E-A394B278C7F0}"/>
                  </a:ext>
                </a:extLst>
              </p:cNvPr>
              <p:cNvGraphicFramePr/>
              <p:nvPr>
                <p:extLst>
                  <p:ext uri="{D42A27DB-BD31-4B8C-83A1-F6EECF244321}">
                    <p14:modId xmlns:p14="http://schemas.microsoft.com/office/powerpoint/2010/main" val="1195206651"/>
                  </p:ext>
                </p:extLst>
              </p:nvPr>
            </p:nvGraphicFramePr>
            <p:xfrm>
              <a:off x="74950" y="2471757"/>
              <a:ext cx="3837482" cy="2743200"/>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2" name="Chart 1">
                <a:extLst>
                  <a:ext uri="{FF2B5EF4-FFF2-40B4-BE49-F238E27FC236}">
                    <a16:creationId xmlns:a16="http://schemas.microsoft.com/office/drawing/2014/main" id="{3C3751EC-DEBD-B848-9F9E-A394B278C7F0}"/>
                  </a:ext>
                </a:extLst>
              </p:cNvPr>
              <p:cNvPicPr>
                <a:picLocks noGrp="1" noRot="1" noChangeAspect="1" noMove="1" noResize="1" noEditPoints="1" noAdjustHandles="1" noChangeArrowheads="1" noChangeShapeType="1"/>
              </p:cNvPicPr>
              <p:nvPr/>
            </p:nvPicPr>
            <p:blipFill>
              <a:blip r:embed="rId4"/>
              <a:stretch>
                <a:fillRect/>
              </a:stretch>
            </p:blipFill>
            <p:spPr>
              <a:xfrm>
                <a:off x="74950" y="2471757"/>
                <a:ext cx="3837482" cy="2743200"/>
              </a:xfrm>
              <a:prstGeom prst="rect">
                <a:avLst/>
              </a:prstGeom>
            </p:spPr>
          </p:pic>
        </mc:Fallback>
      </mc:AlternateContent>
      <mc:AlternateContent xmlns:mc="http://schemas.openxmlformats.org/markup-compatibility/2006" xmlns:cx1="http://schemas.microsoft.com/office/drawing/2015/9/8/chartex">
        <mc:Choice Requires="cx1">
          <p:graphicFrame>
            <p:nvGraphicFramePr>
              <p:cNvPr id="3" name="Chart 2">
                <a:extLst>
                  <a:ext uri="{FF2B5EF4-FFF2-40B4-BE49-F238E27FC236}">
                    <a16:creationId xmlns:a16="http://schemas.microsoft.com/office/drawing/2014/main" id="{05FEE479-B432-CBDB-2E78-976BB9B7ABAD}"/>
                  </a:ext>
                </a:extLst>
              </p:cNvPr>
              <p:cNvGraphicFramePr/>
              <p:nvPr>
                <p:extLst>
                  <p:ext uri="{D42A27DB-BD31-4B8C-83A1-F6EECF244321}">
                    <p14:modId xmlns:p14="http://schemas.microsoft.com/office/powerpoint/2010/main" val="3135031370"/>
                  </p:ext>
                </p:extLst>
              </p:nvPr>
            </p:nvGraphicFramePr>
            <p:xfrm>
              <a:off x="4142956" y="2463225"/>
              <a:ext cx="4572000" cy="2743200"/>
            </p:xfrm>
            <a:graphic>
              <a:graphicData uri="http://schemas.microsoft.com/office/drawing/2014/chartex">
                <cx:chart xmlns:cx="http://schemas.microsoft.com/office/drawing/2014/chartex" xmlns:r="http://schemas.openxmlformats.org/officeDocument/2006/relationships" r:id="rId5"/>
              </a:graphicData>
            </a:graphic>
          </p:graphicFrame>
        </mc:Choice>
        <mc:Fallback xmlns="">
          <p:pic>
            <p:nvPicPr>
              <p:cNvPr id="3" name="Chart 2">
                <a:extLst>
                  <a:ext uri="{FF2B5EF4-FFF2-40B4-BE49-F238E27FC236}">
                    <a16:creationId xmlns:a16="http://schemas.microsoft.com/office/drawing/2014/main" id="{05FEE479-B432-CBDB-2E78-976BB9B7ABAD}"/>
                  </a:ext>
                </a:extLst>
              </p:cNvPr>
              <p:cNvPicPr>
                <a:picLocks noGrp="1" noRot="1" noChangeAspect="1" noMove="1" noResize="1" noEditPoints="1" noAdjustHandles="1" noChangeArrowheads="1" noChangeShapeType="1"/>
              </p:cNvPicPr>
              <p:nvPr/>
            </p:nvPicPr>
            <p:blipFill>
              <a:blip r:embed="rId6"/>
              <a:stretch>
                <a:fillRect/>
              </a:stretch>
            </p:blipFill>
            <p:spPr>
              <a:xfrm>
                <a:off x="4142956" y="2463225"/>
                <a:ext cx="4572000" cy="2743200"/>
              </a:xfrm>
              <a:prstGeom prst="rect">
                <a:avLst/>
              </a:prstGeom>
            </p:spPr>
          </p:pic>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a:t>Module 2: Sample Type</a:t>
            </a:r>
            <a:endParaRPr sz="2800"/>
          </a:p>
        </p:txBody>
      </p:sp>
      <p:sp>
        <p:nvSpPr>
          <p:cNvPr id="132" name="Google Shape;132;p22"/>
          <p:cNvSpPr txBox="1">
            <a:spLocks noGrp="1"/>
          </p:cNvSpPr>
          <p:nvPr>
            <p:ph type="body" idx="1"/>
          </p:nvPr>
        </p:nvSpPr>
        <p:spPr>
          <a:xfrm>
            <a:off x="0" y="988920"/>
            <a:ext cx="8520600" cy="2179028"/>
          </a:xfrm>
          <a:prstGeom prst="rect">
            <a:avLst/>
          </a:prstGeom>
        </p:spPr>
        <p:txBody>
          <a:bodyPr spcFirstLastPara="1" wrap="square" lIns="91425" tIns="91425" rIns="91425" bIns="91425" anchor="t" anchorCtr="0">
            <a:spAutoFit/>
          </a:bodyPr>
          <a:lstStyle/>
          <a:p>
            <a:r>
              <a:rPr lang="en-GB" sz="1100" b="1" dirty="0"/>
              <a:t>AdWords Ad Clicks</a:t>
            </a:r>
          </a:p>
          <a:p>
            <a:r>
              <a:rPr lang="en-GB" sz="1100" dirty="0"/>
              <a:t>The histogram showed a </a:t>
            </a:r>
            <a:r>
              <a:rPr lang="en-GB" sz="1100" b="1" dirty="0"/>
              <a:t>bell-like shape</a:t>
            </a:r>
            <a:r>
              <a:rPr lang="en-GB" sz="1100" dirty="0"/>
              <a:t>, centred roughly around the middle click ranges (50–70).</a:t>
            </a:r>
          </a:p>
          <a:p>
            <a:r>
              <a:rPr lang="en-GB" sz="1100" dirty="0"/>
              <a:t>The tails on both sides taper off gradually.</a:t>
            </a:r>
            <a:br>
              <a:rPr lang="en-GB" sz="1100" dirty="0"/>
            </a:br>
            <a:r>
              <a:rPr lang="en-GB" sz="1100" b="1" dirty="0"/>
              <a:t>Conclusion:</a:t>
            </a:r>
            <a:r>
              <a:rPr lang="en-GB" sz="1100" dirty="0"/>
              <a:t> The AdWords Clicks data is </a:t>
            </a:r>
            <a:r>
              <a:rPr lang="en-GB" sz="1100" b="1" dirty="0"/>
              <a:t>approximately normally distributed</a:t>
            </a:r>
            <a:r>
              <a:rPr lang="en-GB" sz="1100" dirty="0"/>
              <a:t> (roughly symmetric, unimodal).</a:t>
            </a:r>
          </a:p>
          <a:p>
            <a:r>
              <a:rPr lang="en-GB" sz="1100" b="1" dirty="0"/>
              <a:t>AdWords Ad Conversions</a:t>
            </a:r>
          </a:p>
          <a:p>
            <a:r>
              <a:rPr lang="en-GB" sz="1100" dirty="0"/>
              <a:t>The histogram is </a:t>
            </a:r>
            <a:r>
              <a:rPr lang="en-GB" sz="1100" b="1" dirty="0"/>
              <a:t>right-skewed (positively skewed)</a:t>
            </a:r>
            <a:r>
              <a:rPr lang="en-GB" sz="1100" dirty="0"/>
              <a:t> — more values are concentrated on the left, with fewer high-conversion values on the right.</a:t>
            </a:r>
            <a:br>
              <a:rPr lang="en-GB" sz="1100" dirty="0"/>
            </a:br>
            <a:r>
              <a:rPr lang="en-GB" sz="1100" b="1" dirty="0"/>
              <a:t>Conclusion:</a:t>
            </a:r>
            <a:r>
              <a:rPr lang="en-GB" sz="1100" dirty="0"/>
              <a:t> The AdWords Conversions data is </a:t>
            </a:r>
            <a:r>
              <a:rPr lang="en-GB" sz="1100" b="1" dirty="0"/>
              <a:t>not normally distributed</a:t>
            </a:r>
            <a:r>
              <a:rPr lang="en-GB" sz="1100" dirty="0"/>
              <a:t> (it’s skewed).</a:t>
            </a:r>
          </a:p>
          <a:p>
            <a:pPr marL="0" lvl="0" indent="0" algn="l" rtl="0">
              <a:spcBef>
                <a:spcPts val="0"/>
              </a:spcBef>
              <a:spcAft>
                <a:spcPts val="1200"/>
              </a:spcAft>
              <a:buNone/>
            </a:pPr>
            <a:endParaRPr sz="1600" dirty="0"/>
          </a:p>
        </p:txBody>
      </p:sp>
      <p:sp>
        <p:nvSpPr>
          <p:cNvPr id="133" name="Google Shape;133;p22"/>
          <p:cNvSpPr txBox="1"/>
          <p:nvPr/>
        </p:nvSpPr>
        <p:spPr>
          <a:xfrm>
            <a:off x="311700" y="3309525"/>
            <a:ext cx="8520600" cy="1015632"/>
          </a:xfrm>
          <a:prstGeom prst="rect">
            <a:avLst/>
          </a:prstGeom>
          <a:noFill/>
          <a:ln>
            <a:noFill/>
          </a:ln>
        </p:spPr>
        <p:txBody>
          <a:bodyPr spcFirstLastPara="1" wrap="square" lIns="91425" tIns="91425" rIns="91425" bIns="91425" anchor="t" anchorCtr="0">
            <a:spAutoFit/>
          </a:bodyPr>
          <a:lstStyle/>
          <a:p>
            <a:r>
              <a:rPr lang="en" sz="1800" dirty="0">
                <a:solidFill>
                  <a:srgbClr val="434343"/>
                </a:solidFill>
                <a:latin typeface="DM Sans"/>
                <a:ea typeface="DM Sans"/>
                <a:cs typeface="DM Sans"/>
                <a:sym typeface="DM Sans"/>
              </a:rPr>
              <a:t>Does the conversions data have a normal distribution?</a:t>
            </a:r>
          </a:p>
          <a:p>
            <a:r>
              <a:rPr lang="en" sz="1800" dirty="0">
                <a:solidFill>
                  <a:srgbClr val="434343"/>
                </a:solidFill>
                <a:latin typeface="DM Sans"/>
                <a:ea typeface="DM Sans"/>
                <a:cs typeface="DM Sans"/>
                <a:sym typeface="DM Sans"/>
              </a:rPr>
              <a:t> </a:t>
            </a:r>
            <a:r>
              <a:rPr lang="en-GB" sz="1800" i="1" dirty="0"/>
              <a:t>No, it’s right-skewed.</a:t>
            </a:r>
            <a:endParaRPr lang="en-GB" sz="1800" dirty="0"/>
          </a:p>
          <a:p>
            <a:pPr marL="0" lvl="0" indent="0" algn="l" rtl="0">
              <a:spcBef>
                <a:spcPts val="0"/>
              </a:spcBef>
              <a:spcAft>
                <a:spcPts val="0"/>
              </a:spcAft>
              <a:buNone/>
            </a:pPr>
            <a:endParaRPr sz="1800" dirty="0">
              <a:solidFill>
                <a:srgbClr val="434343"/>
              </a:solidFill>
              <a:latin typeface="DM Sans"/>
              <a:ea typeface="DM Sans"/>
              <a:cs typeface="DM Sans"/>
              <a:sym typeface="DM Sans"/>
            </a:endParaRPr>
          </a:p>
        </p:txBody>
      </p:sp>
      <p:sp>
        <p:nvSpPr>
          <p:cNvPr id="134" name="Google Shape;134;p22"/>
          <p:cNvSpPr txBox="1"/>
          <p:nvPr/>
        </p:nvSpPr>
        <p:spPr>
          <a:xfrm>
            <a:off x="311700" y="2707425"/>
            <a:ext cx="8520600" cy="738633"/>
          </a:xfrm>
          <a:prstGeom prst="rect">
            <a:avLst/>
          </a:prstGeom>
          <a:noFill/>
          <a:ln>
            <a:noFill/>
          </a:ln>
        </p:spPr>
        <p:txBody>
          <a:bodyPr spcFirstLastPara="1" wrap="square" lIns="91425" tIns="91425" rIns="91425" bIns="91425" anchor="t" anchorCtr="0">
            <a:spAutoFit/>
          </a:bodyPr>
          <a:lstStyle/>
          <a:p>
            <a:pPr lvl="0"/>
            <a:r>
              <a:rPr lang="en" sz="1800" dirty="0">
                <a:solidFill>
                  <a:srgbClr val="434343"/>
                </a:solidFill>
                <a:latin typeface="DM Sans"/>
                <a:ea typeface="DM Sans"/>
                <a:cs typeface="DM Sans"/>
                <a:sym typeface="DM Sans"/>
              </a:rPr>
              <a:t>Does the clicks data have a normal distribution?</a:t>
            </a:r>
          </a:p>
          <a:p>
            <a:pPr lvl="0"/>
            <a:r>
              <a:rPr lang="en" sz="1800" dirty="0">
                <a:solidFill>
                  <a:srgbClr val="434343"/>
                </a:solidFill>
                <a:latin typeface="DM Sans"/>
                <a:ea typeface="DM Sans"/>
                <a:cs typeface="DM Sans"/>
                <a:sym typeface="DM Sans"/>
              </a:rPr>
              <a:t> </a:t>
            </a:r>
            <a:r>
              <a:rPr lang="en-GB" sz="1800" dirty="0"/>
              <a:t>Yes, approximately normal.</a:t>
            </a:r>
            <a:endParaRPr sz="1800" dirty="0">
              <a:solidFill>
                <a:srgbClr val="434343"/>
              </a:solidFill>
              <a:latin typeface="DM Sans"/>
              <a:ea typeface="DM Sans"/>
              <a:cs typeface="DM Sans"/>
              <a:sym typeface="DM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a:t>Variable Types</a:t>
            </a:r>
            <a:endParaRPr sz="2800"/>
          </a:p>
        </p:txBody>
      </p:sp>
      <p:sp>
        <p:nvSpPr>
          <p:cNvPr id="140" name="Google Shape;140;p23"/>
          <p:cNvSpPr txBox="1">
            <a:spLocks noGrp="1"/>
          </p:cNvSpPr>
          <p:nvPr>
            <p:ph type="body" idx="1"/>
          </p:nvPr>
        </p:nvSpPr>
        <p:spPr>
          <a:xfrm>
            <a:off x="387900" y="1192850"/>
            <a:ext cx="85206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200"/>
              </a:spcAft>
              <a:buNone/>
            </a:pPr>
            <a:r>
              <a:rPr lang="en" sz="1600"/>
              <a:t>Determining the types of variables your working with is an important skill. Below, list the variables from your data that are:</a:t>
            </a:r>
            <a:endParaRPr sz="1600"/>
          </a:p>
        </p:txBody>
      </p:sp>
      <p:sp>
        <p:nvSpPr>
          <p:cNvPr id="141" name="Google Shape;141;p23"/>
          <p:cNvSpPr txBox="1"/>
          <p:nvPr/>
        </p:nvSpPr>
        <p:spPr>
          <a:xfrm>
            <a:off x="387900" y="1944013"/>
            <a:ext cx="73446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rgbClr val="0A004A"/>
                </a:solidFill>
                <a:latin typeface="DM Sans"/>
                <a:ea typeface="DM Sans"/>
                <a:cs typeface="DM Sans"/>
                <a:sym typeface="DM Sans"/>
              </a:rPr>
              <a:t>Quantitative: </a:t>
            </a:r>
            <a:endParaRPr sz="1800">
              <a:solidFill>
                <a:srgbClr val="0A004A"/>
              </a:solidFill>
              <a:latin typeface="DM Sans"/>
              <a:ea typeface="DM Sans"/>
              <a:cs typeface="DM Sans"/>
              <a:sym typeface="DM Sans"/>
            </a:endParaRPr>
          </a:p>
        </p:txBody>
      </p:sp>
      <p:sp>
        <p:nvSpPr>
          <p:cNvPr id="142" name="Google Shape;142;p23"/>
          <p:cNvSpPr txBox="1"/>
          <p:nvPr/>
        </p:nvSpPr>
        <p:spPr>
          <a:xfrm>
            <a:off x="387900" y="3439740"/>
            <a:ext cx="73446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rgbClr val="0A004A"/>
                </a:solidFill>
                <a:latin typeface="DM Sans"/>
                <a:ea typeface="DM Sans"/>
                <a:cs typeface="DM Sans"/>
                <a:sym typeface="DM Sans"/>
              </a:rPr>
              <a:t>Qualitative: </a:t>
            </a:r>
            <a:endParaRPr sz="1800">
              <a:solidFill>
                <a:srgbClr val="0A004A"/>
              </a:solidFill>
              <a:latin typeface="DM Sans"/>
              <a:ea typeface="DM Sans"/>
              <a:cs typeface="DM Sans"/>
              <a:sym typeface="DM Sans"/>
            </a:endParaRPr>
          </a:p>
        </p:txBody>
      </p:sp>
      <p:sp>
        <p:nvSpPr>
          <p:cNvPr id="143" name="Google Shape;143;p23"/>
          <p:cNvSpPr txBox="1"/>
          <p:nvPr/>
        </p:nvSpPr>
        <p:spPr>
          <a:xfrm>
            <a:off x="665250" y="2442592"/>
            <a:ext cx="7344600" cy="461700"/>
          </a:xfrm>
          <a:prstGeom prst="rect">
            <a:avLst/>
          </a:prstGeom>
          <a:noFill/>
          <a:ln>
            <a:noFill/>
          </a:ln>
        </p:spPr>
        <p:txBody>
          <a:bodyPr spcFirstLastPara="1" wrap="square" lIns="91425" tIns="91425" rIns="91425" bIns="91425" anchor="t" anchorCtr="0">
            <a:spAutoFit/>
          </a:bodyPr>
          <a:lstStyle/>
          <a:p>
            <a:pPr lvl="0"/>
            <a:r>
              <a:rPr lang="en" sz="1800" dirty="0">
                <a:solidFill>
                  <a:srgbClr val="0A004A"/>
                </a:solidFill>
                <a:latin typeface="DM Sans"/>
                <a:ea typeface="DM Sans"/>
                <a:cs typeface="DM Sans"/>
                <a:sym typeface="DM Sans"/>
              </a:rPr>
              <a:t>Continuous: </a:t>
            </a:r>
            <a:r>
              <a:rPr lang="en-GB" sz="1800" dirty="0"/>
              <a:t>Clicks</a:t>
            </a:r>
            <a:endParaRPr sz="1800" dirty="0">
              <a:solidFill>
                <a:srgbClr val="0A004A"/>
              </a:solidFill>
              <a:latin typeface="DM Sans"/>
              <a:ea typeface="DM Sans"/>
              <a:cs typeface="DM Sans"/>
              <a:sym typeface="DM Sans"/>
            </a:endParaRPr>
          </a:p>
        </p:txBody>
      </p:sp>
      <p:sp>
        <p:nvSpPr>
          <p:cNvPr id="144" name="Google Shape;144;p23"/>
          <p:cNvSpPr txBox="1"/>
          <p:nvPr/>
        </p:nvSpPr>
        <p:spPr>
          <a:xfrm>
            <a:off x="665250" y="2904294"/>
            <a:ext cx="7344600" cy="461700"/>
          </a:xfrm>
          <a:prstGeom prst="rect">
            <a:avLst/>
          </a:prstGeom>
          <a:noFill/>
          <a:ln>
            <a:noFill/>
          </a:ln>
        </p:spPr>
        <p:txBody>
          <a:bodyPr spcFirstLastPara="1" wrap="square" lIns="91425" tIns="91425" rIns="91425" bIns="91425" anchor="t" anchorCtr="0">
            <a:spAutoFit/>
          </a:bodyPr>
          <a:lstStyle/>
          <a:p>
            <a:pPr lvl="0"/>
            <a:r>
              <a:rPr lang="en" sz="1800" dirty="0">
                <a:solidFill>
                  <a:srgbClr val="0A004A"/>
                </a:solidFill>
                <a:latin typeface="DM Sans"/>
                <a:ea typeface="DM Sans"/>
                <a:cs typeface="DM Sans"/>
                <a:sym typeface="DM Sans"/>
              </a:rPr>
              <a:t>Discrete: </a:t>
            </a:r>
            <a:r>
              <a:rPr lang="en-GB" sz="1800" dirty="0"/>
              <a:t>Conversions</a:t>
            </a:r>
            <a:endParaRPr sz="1800" dirty="0">
              <a:solidFill>
                <a:srgbClr val="0A004A"/>
              </a:solidFill>
              <a:latin typeface="DM Sans"/>
              <a:ea typeface="DM Sans"/>
              <a:cs typeface="DM Sans"/>
              <a:sym typeface="DM Sans"/>
            </a:endParaRPr>
          </a:p>
        </p:txBody>
      </p:sp>
      <p:sp>
        <p:nvSpPr>
          <p:cNvPr id="145" name="Google Shape;145;p23"/>
          <p:cNvSpPr txBox="1"/>
          <p:nvPr/>
        </p:nvSpPr>
        <p:spPr>
          <a:xfrm>
            <a:off x="665250" y="3928559"/>
            <a:ext cx="7344600" cy="461700"/>
          </a:xfrm>
          <a:prstGeom prst="rect">
            <a:avLst/>
          </a:prstGeom>
          <a:noFill/>
          <a:ln>
            <a:noFill/>
          </a:ln>
        </p:spPr>
        <p:txBody>
          <a:bodyPr spcFirstLastPara="1" wrap="square" lIns="91425" tIns="91425" rIns="91425" bIns="91425" anchor="t" anchorCtr="0">
            <a:spAutoFit/>
          </a:bodyPr>
          <a:lstStyle/>
          <a:p>
            <a:pPr lvl="0"/>
            <a:r>
              <a:rPr lang="en" sz="1800" dirty="0">
                <a:solidFill>
                  <a:srgbClr val="0A004A"/>
                </a:solidFill>
                <a:latin typeface="DM Sans"/>
                <a:ea typeface="DM Sans"/>
                <a:cs typeface="DM Sans"/>
                <a:sym typeface="DM Sans"/>
              </a:rPr>
              <a:t>Nominal: </a:t>
            </a:r>
            <a:r>
              <a:rPr lang="en-GB" sz="1800" i="1" dirty="0"/>
              <a:t>Campaign Name</a:t>
            </a:r>
            <a:r>
              <a:rPr lang="en-GB" sz="1800" dirty="0"/>
              <a:t> (e.g., “AW Jan”)</a:t>
            </a:r>
            <a:endParaRPr sz="1800" dirty="0">
              <a:solidFill>
                <a:srgbClr val="0A004A"/>
              </a:solidFill>
              <a:latin typeface="DM Sans"/>
              <a:ea typeface="DM Sans"/>
              <a:cs typeface="DM Sans"/>
              <a:sym typeface="DM Sans"/>
            </a:endParaRPr>
          </a:p>
        </p:txBody>
      </p:sp>
      <p:sp>
        <p:nvSpPr>
          <p:cNvPr id="146" name="Google Shape;146;p23"/>
          <p:cNvSpPr txBox="1"/>
          <p:nvPr/>
        </p:nvSpPr>
        <p:spPr>
          <a:xfrm>
            <a:off x="665250" y="4417348"/>
            <a:ext cx="7344600" cy="461700"/>
          </a:xfrm>
          <a:prstGeom prst="rect">
            <a:avLst/>
          </a:prstGeom>
          <a:noFill/>
          <a:ln>
            <a:noFill/>
          </a:ln>
        </p:spPr>
        <p:txBody>
          <a:bodyPr spcFirstLastPara="1" wrap="square" lIns="91425" tIns="91425" rIns="91425" bIns="91425" anchor="t" anchorCtr="0">
            <a:spAutoFit/>
          </a:bodyPr>
          <a:lstStyle/>
          <a:p>
            <a:pPr lvl="0"/>
            <a:r>
              <a:rPr lang="en" sz="1800" dirty="0">
                <a:solidFill>
                  <a:srgbClr val="0A004A"/>
                </a:solidFill>
                <a:latin typeface="DM Sans"/>
                <a:ea typeface="DM Sans"/>
                <a:cs typeface="DM Sans"/>
                <a:sym typeface="DM Sans"/>
              </a:rPr>
              <a:t>Ordinal: </a:t>
            </a:r>
            <a:r>
              <a:rPr lang="fr-FR" sz="1800" i="1" dirty="0"/>
              <a:t>Conversion Range</a:t>
            </a:r>
            <a:r>
              <a:rPr lang="fr-FR" sz="1800" dirty="0"/>
              <a:t> (e.g., “&lt;6”, “6–10”, “&gt;15”)</a:t>
            </a:r>
            <a:endParaRPr sz="1800" dirty="0">
              <a:solidFill>
                <a:srgbClr val="0A004A"/>
              </a:solidFill>
              <a:latin typeface="DM Sans"/>
              <a:ea typeface="DM Sans"/>
              <a:cs typeface="DM Sans"/>
              <a:sym typeface="DM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a:t>Question and Hypothesis</a:t>
            </a:r>
            <a:endParaRPr sz="2800"/>
          </a:p>
        </p:txBody>
      </p:sp>
      <p:sp>
        <p:nvSpPr>
          <p:cNvPr id="157" name="Google Shape;157;p25"/>
          <p:cNvSpPr txBox="1">
            <a:spLocks noGrp="1"/>
          </p:cNvSpPr>
          <p:nvPr>
            <p:ph type="body" idx="1"/>
          </p:nvPr>
        </p:nvSpPr>
        <p:spPr>
          <a:xfrm>
            <a:off x="311700" y="1152475"/>
            <a:ext cx="85206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200"/>
              </a:spcAft>
              <a:buNone/>
            </a:pPr>
            <a:r>
              <a:rPr lang="en" sz="1600"/>
              <a:t>The question you hope to answer and your hypothesized answer are necessary to complete an analysis. Answer the following questions</a:t>
            </a:r>
            <a:endParaRPr sz="1600"/>
          </a:p>
        </p:txBody>
      </p:sp>
      <p:sp>
        <p:nvSpPr>
          <p:cNvPr id="158" name="Google Shape;158;p25"/>
          <p:cNvSpPr txBox="1"/>
          <p:nvPr/>
        </p:nvSpPr>
        <p:spPr>
          <a:xfrm>
            <a:off x="311700" y="2001525"/>
            <a:ext cx="8393400" cy="27750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rmAutofit/>
          </a:bodyPr>
          <a:lstStyle/>
          <a:p>
            <a:pPr lvl="0"/>
            <a:r>
              <a:rPr lang="en-GB" sz="1800" dirty="0"/>
              <a:t>Our hypothesis is that Facebook advertisements will generate a higher number of conversions than AdWords advertisements.</a:t>
            </a:r>
            <a:br>
              <a:rPr lang="en-GB" sz="1800" dirty="0"/>
            </a:br>
            <a:r>
              <a:rPr lang="en-GB" sz="1800" dirty="0"/>
              <a:t>We believe this because Facebook’s audience targeting and engagement features are likely to result in more user interactions and conversions compared to AdWords.</a:t>
            </a:r>
            <a:endParaRPr sz="1800" dirty="0">
              <a:solidFill>
                <a:srgbClr val="0A004A"/>
              </a:solidFill>
              <a:latin typeface="DM Sans"/>
              <a:ea typeface="DM Sans"/>
              <a:cs typeface="DM Sans"/>
              <a:sym typeface="DM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a:t>Question and Hypothesis</a:t>
            </a:r>
            <a:endParaRPr sz="2800"/>
          </a:p>
        </p:txBody>
      </p:sp>
      <p:sp>
        <p:nvSpPr>
          <p:cNvPr id="165" name="Google Shape;165;p26"/>
          <p:cNvSpPr txBox="1"/>
          <p:nvPr/>
        </p:nvSpPr>
        <p:spPr>
          <a:xfrm>
            <a:off x="407581" y="1932775"/>
            <a:ext cx="7483200" cy="1292631"/>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dirty="0">
                <a:solidFill>
                  <a:srgbClr val="0A004A"/>
                </a:solidFill>
                <a:latin typeface="DM Sans"/>
                <a:ea typeface="DM Sans"/>
                <a:cs typeface="DM Sans"/>
                <a:sym typeface="DM Sans"/>
              </a:rPr>
              <a:t>What is your independent variable? </a:t>
            </a:r>
          </a:p>
          <a:p>
            <a:pPr lvl="0"/>
            <a:r>
              <a:rPr lang="en-GB" sz="2400" dirty="0"/>
              <a:t>Advertising Platform (Facebook vs. AdWords)</a:t>
            </a:r>
          </a:p>
          <a:p>
            <a:pPr lvl="0"/>
            <a:endParaRPr sz="2400" dirty="0">
              <a:solidFill>
                <a:srgbClr val="0A004A"/>
              </a:solidFill>
              <a:latin typeface="DM Sans"/>
              <a:ea typeface="DM Sans"/>
              <a:cs typeface="DM Sans"/>
              <a:sym typeface="DM Sans"/>
            </a:endParaRPr>
          </a:p>
        </p:txBody>
      </p:sp>
      <p:sp>
        <p:nvSpPr>
          <p:cNvPr id="166" name="Google Shape;166;p26"/>
          <p:cNvSpPr txBox="1"/>
          <p:nvPr/>
        </p:nvSpPr>
        <p:spPr>
          <a:xfrm>
            <a:off x="407581" y="2571750"/>
            <a:ext cx="7483200" cy="1292631"/>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lang="en" sz="2400" dirty="0">
              <a:solidFill>
                <a:srgbClr val="0A004A"/>
              </a:solidFill>
              <a:latin typeface="DM Sans"/>
              <a:ea typeface="DM Sans"/>
              <a:cs typeface="DM Sans"/>
              <a:sym typeface="DM Sans"/>
            </a:endParaRPr>
          </a:p>
          <a:p>
            <a:pPr marL="0" lvl="0" indent="0" algn="l" rtl="0">
              <a:spcBef>
                <a:spcPts val="0"/>
              </a:spcBef>
              <a:spcAft>
                <a:spcPts val="0"/>
              </a:spcAft>
              <a:buNone/>
            </a:pPr>
            <a:r>
              <a:rPr lang="en" sz="2400" dirty="0">
                <a:solidFill>
                  <a:srgbClr val="0A004A"/>
                </a:solidFill>
                <a:latin typeface="DM Sans"/>
                <a:ea typeface="DM Sans"/>
                <a:cs typeface="DM Sans"/>
                <a:sym typeface="DM Sans"/>
              </a:rPr>
              <a:t>What is your dependent variable? </a:t>
            </a:r>
          </a:p>
          <a:p>
            <a:pPr lvl="0"/>
            <a:r>
              <a:rPr lang="en-GB" sz="2400" dirty="0"/>
              <a:t>Number of Conversions</a:t>
            </a:r>
            <a:endParaRPr sz="2400" dirty="0">
              <a:solidFill>
                <a:srgbClr val="0A004A"/>
              </a:solidFill>
              <a:latin typeface="DM Sans"/>
              <a:ea typeface="DM Sans"/>
              <a:cs typeface="DM Sans"/>
              <a:sym typeface="DM Sans"/>
            </a:endParaRPr>
          </a:p>
        </p:txBody>
      </p:sp>
      <p:sp>
        <p:nvSpPr>
          <p:cNvPr id="3" name="Text Placeholder 2">
            <a:extLst>
              <a:ext uri="{FF2B5EF4-FFF2-40B4-BE49-F238E27FC236}">
                <a16:creationId xmlns:a16="http://schemas.microsoft.com/office/drawing/2014/main" id="{1AE1F5C7-2F15-8C29-AD5E-028C4755C1CF}"/>
              </a:ext>
            </a:extLst>
          </p:cNvPr>
          <p:cNvSpPr>
            <a:spLocks noGrp="1" noChangeArrowheads="1"/>
          </p:cNvSpPr>
          <p:nvPr>
            <p:ph type="body" idx="1"/>
          </p:nvPr>
        </p:nvSpPr>
        <p:spPr bwMode="auto">
          <a:xfrm>
            <a:off x="311150" y="1202065"/>
            <a:ext cx="853791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The </a:t>
            </a:r>
            <a:r>
              <a:rPr kumimoji="0" lang="en-US" altLang="en-US" sz="1400" b="1" i="0" u="none" strike="noStrike" cap="none" normalizeH="0" baseline="0" dirty="0">
                <a:ln>
                  <a:noFill/>
                </a:ln>
                <a:solidFill>
                  <a:schemeClr val="tx1"/>
                </a:solidFill>
                <a:effectLst/>
                <a:latin typeface="Arial" panose="020B0604020202020204" pitchFamily="34" charset="0"/>
              </a:rPr>
              <a:t>independent variable</a:t>
            </a:r>
            <a:r>
              <a:rPr kumimoji="0" lang="en-US" altLang="en-US" sz="1400" b="0" i="0" u="none" strike="noStrike" cap="none" normalizeH="0" baseline="0" dirty="0">
                <a:ln>
                  <a:noFill/>
                </a:ln>
                <a:solidFill>
                  <a:schemeClr val="tx1"/>
                </a:solidFill>
                <a:effectLst/>
                <a:latin typeface="Arial" panose="020B0604020202020204" pitchFamily="34" charset="0"/>
              </a:rPr>
              <a:t> is what you change or compare — here, it’s the platform used for advertising.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The </a:t>
            </a:r>
            <a:r>
              <a:rPr kumimoji="0" lang="en-US" altLang="en-US" sz="1400" b="1" i="0" u="none" strike="noStrike" cap="none" normalizeH="0" baseline="0" dirty="0">
                <a:ln>
                  <a:noFill/>
                </a:ln>
                <a:solidFill>
                  <a:schemeClr val="tx1"/>
                </a:solidFill>
                <a:effectLst/>
                <a:latin typeface="Arial" panose="020B0604020202020204" pitchFamily="34" charset="0"/>
              </a:rPr>
              <a:t>dependent variable</a:t>
            </a:r>
            <a:r>
              <a:rPr kumimoji="0" lang="en-US" altLang="en-US" sz="1400" b="0" i="0" u="none" strike="noStrike" cap="none" normalizeH="0" baseline="0" dirty="0">
                <a:ln>
                  <a:noFill/>
                </a:ln>
                <a:solidFill>
                  <a:schemeClr val="tx1"/>
                </a:solidFill>
                <a:effectLst/>
                <a:latin typeface="Arial" panose="020B0604020202020204" pitchFamily="34" charset="0"/>
              </a:rPr>
              <a:t> is what you measure — the resulting number of conversions.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a:t>Running a Test</a:t>
            </a:r>
            <a:endParaRPr sz="2800"/>
          </a:p>
        </p:txBody>
      </p:sp>
      <p:sp>
        <p:nvSpPr>
          <p:cNvPr id="172" name="Google Shape;172;p27"/>
          <p:cNvSpPr txBox="1">
            <a:spLocks noGrp="1"/>
          </p:cNvSpPr>
          <p:nvPr>
            <p:ph type="body" idx="1"/>
          </p:nvPr>
        </p:nvSpPr>
        <p:spPr>
          <a:xfrm>
            <a:off x="311700" y="1152475"/>
            <a:ext cx="8520600" cy="904833"/>
          </a:xfrm>
          <a:prstGeom prst="rect">
            <a:avLst/>
          </a:prstGeom>
        </p:spPr>
        <p:txBody>
          <a:bodyPr spcFirstLastPara="1" wrap="square" lIns="91425" tIns="91425" rIns="91425" bIns="91425" anchor="t" anchorCtr="0">
            <a:spAutoFit/>
          </a:bodyPr>
          <a:lstStyle/>
          <a:p>
            <a:pPr marL="0" lvl="0" indent="0" algn="l" rtl="0">
              <a:spcBef>
                <a:spcPts val="0"/>
              </a:spcBef>
              <a:spcAft>
                <a:spcPts val="1200"/>
              </a:spcAft>
              <a:buNone/>
            </a:pPr>
            <a:r>
              <a:rPr lang="en" sz="1600" dirty="0"/>
              <a:t>With your question and hypothesis ready, run the test on the two sets of data. Fill in the information below.</a:t>
            </a:r>
            <a:endParaRPr sz="1600" dirty="0"/>
          </a:p>
        </p:txBody>
      </p:sp>
      <p:sp>
        <p:nvSpPr>
          <p:cNvPr id="173" name="Google Shape;173;p27"/>
          <p:cNvSpPr txBox="1"/>
          <p:nvPr/>
        </p:nvSpPr>
        <p:spPr>
          <a:xfrm>
            <a:off x="341978" y="1932775"/>
            <a:ext cx="7344600" cy="554100"/>
          </a:xfrm>
          <a:prstGeom prst="rect">
            <a:avLst/>
          </a:prstGeom>
          <a:noFill/>
          <a:ln>
            <a:noFill/>
          </a:ln>
        </p:spPr>
        <p:txBody>
          <a:bodyPr spcFirstLastPara="1" wrap="square" lIns="91425" tIns="91425" rIns="91425" bIns="91425" anchor="t" anchorCtr="0">
            <a:spAutoFit/>
          </a:bodyPr>
          <a:lstStyle/>
          <a:p>
            <a:pPr lvl="0"/>
            <a:r>
              <a:rPr lang="en" sz="2400" dirty="0">
                <a:solidFill>
                  <a:srgbClr val="0A004A"/>
                </a:solidFill>
                <a:latin typeface="DM Sans"/>
                <a:ea typeface="DM Sans"/>
                <a:cs typeface="DM Sans"/>
                <a:sym typeface="DM Sans"/>
              </a:rPr>
              <a:t>Mean number of Facebook conversions: </a:t>
            </a:r>
            <a:r>
              <a:rPr lang="en-GB" sz="2400" dirty="0"/>
              <a:t>11.74</a:t>
            </a:r>
            <a:endParaRPr sz="2400" dirty="0">
              <a:solidFill>
                <a:srgbClr val="0A004A"/>
              </a:solidFill>
              <a:latin typeface="DM Sans"/>
              <a:ea typeface="DM Sans"/>
              <a:cs typeface="DM Sans"/>
              <a:sym typeface="DM Sans"/>
            </a:endParaRPr>
          </a:p>
        </p:txBody>
      </p:sp>
      <p:sp>
        <p:nvSpPr>
          <p:cNvPr id="174" name="Google Shape;174;p27"/>
          <p:cNvSpPr txBox="1"/>
          <p:nvPr/>
        </p:nvSpPr>
        <p:spPr>
          <a:xfrm>
            <a:off x="341978" y="3125850"/>
            <a:ext cx="7344600" cy="554100"/>
          </a:xfrm>
          <a:prstGeom prst="rect">
            <a:avLst/>
          </a:prstGeom>
          <a:noFill/>
          <a:ln>
            <a:noFill/>
          </a:ln>
        </p:spPr>
        <p:txBody>
          <a:bodyPr spcFirstLastPara="1" wrap="square" lIns="91425" tIns="91425" rIns="91425" bIns="91425" anchor="t" anchorCtr="0">
            <a:spAutoFit/>
          </a:bodyPr>
          <a:lstStyle/>
          <a:p>
            <a:pPr lvl="0"/>
            <a:r>
              <a:rPr lang="en" sz="2400" dirty="0">
                <a:solidFill>
                  <a:srgbClr val="0A004A"/>
                </a:solidFill>
                <a:latin typeface="DM Sans"/>
                <a:ea typeface="DM Sans"/>
                <a:cs typeface="DM Sans"/>
                <a:sym typeface="DM Sans"/>
              </a:rPr>
              <a:t>p-Value: </a:t>
            </a:r>
            <a:r>
              <a:rPr lang="en-GB" sz="2400" b="1" dirty="0"/>
              <a:t>4.56E-146</a:t>
            </a:r>
            <a:endParaRPr sz="2400" dirty="0">
              <a:solidFill>
                <a:srgbClr val="0A004A"/>
              </a:solidFill>
              <a:latin typeface="DM Sans"/>
              <a:ea typeface="DM Sans"/>
              <a:cs typeface="DM Sans"/>
              <a:sym typeface="DM Sans"/>
            </a:endParaRPr>
          </a:p>
        </p:txBody>
      </p:sp>
      <p:sp>
        <p:nvSpPr>
          <p:cNvPr id="175" name="Google Shape;175;p27"/>
          <p:cNvSpPr txBox="1"/>
          <p:nvPr/>
        </p:nvSpPr>
        <p:spPr>
          <a:xfrm>
            <a:off x="341978" y="2571750"/>
            <a:ext cx="7344600" cy="554100"/>
          </a:xfrm>
          <a:prstGeom prst="rect">
            <a:avLst/>
          </a:prstGeom>
          <a:noFill/>
          <a:ln>
            <a:noFill/>
          </a:ln>
        </p:spPr>
        <p:txBody>
          <a:bodyPr spcFirstLastPara="1" wrap="square" lIns="91425" tIns="91425" rIns="91425" bIns="91425" anchor="t" anchorCtr="0">
            <a:spAutoFit/>
          </a:bodyPr>
          <a:lstStyle/>
          <a:p>
            <a:pPr lvl="0"/>
            <a:r>
              <a:rPr lang="en" sz="2400" dirty="0">
                <a:solidFill>
                  <a:srgbClr val="0A004A"/>
                </a:solidFill>
                <a:latin typeface="DM Sans"/>
                <a:ea typeface="DM Sans"/>
                <a:cs typeface="DM Sans"/>
                <a:sym typeface="DM Sans"/>
              </a:rPr>
              <a:t>Mean number of Adware conversions: </a:t>
            </a:r>
            <a:r>
              <a:rPr lang="en-GB" sz="2400" dirty="0"/>
              <a:t>5.98</a:t>
            </a:r>
            <a:endParaRPr sz="2400" dirty="0">
              <a:solidFill>
                <a:srgbClr val="0A004A"/>
              </a:solidFill>
              <a:latin typeface="DM Sans"/>
              <a:ea typeface="DM Sans"/>
              <a:cs typeface="DM Sans"/>
              <a:sym typeface="DM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a:t>Hypothesis </a:t>
            </a:r>
            <a:endParaRPr sz="2800"/>
          </a:p>
        </p:txBody>
      </p:sp>
      <p:sp>
        <p:nvSpPr>
          <p:cNvPr id="181" name="Google Shape;181;p28"/>
          <p:cNvSpPr txBox="1">
            <a:spLocks noGrp="1"/>
          </p:cNvSpPr>
          <p:nvPr>
            <p:ph type="body" idx="1"/>
          </p:nvPr>
        </p:nvSpPr>
        <p:spPr>
          <a:xfrm>
            <a:off x="311700" y="1152475"/>
            <a:ext cx="8520600" cy="431100"/>
          </a:xfrm>
          <a:prstGeom prst="rect">
            <a:avLst/>
          </a:prstGeom>
        </p:spPr>
        <p:txBody>
          <a:bodyPr spcFirstLastPara="1" wrap="square" lIns="91425" tIns="91425" rIns="91425" bIns="91425" anchor="t" anchorCtr="0">
            <a:spAutoFit/>
          </a:bodyPr>
          <a:lstStyle/>
          <a:p>
            <a:pPr marL="0" lvl="0" indent="0" algn="l" rtl="0">
              <a:spcBef>
                <a:spcPts val="0"/>
              </a:spcBef>
              <a:spcAft>
                <a:spcPts val="1200"/>
              </a:spcAft>
              <a:buNone/>
            </a:pPr>
            <a:r>
              <a:rPr lang="en" sz="1600"/>
              <a:t>After running the test, was your hypothesis proven correct?</a:t>
            </a:r>
            <a:endParaRPr sz="1600"/>
          </a:p>
        </p:txBody>
      </p:sp>
      <p:sp>
        <p:nvSpPr>
          <p:cNvPr id="182" name="Google Shape;182;p28"/>
          <p:cNvSpPr txBox="1"/>
          <p:nvPr/>
        </p:nvSpPr>
        <p:spPr>
          <a:xfrm>
            <a:off x="311700" y="1583575"/>
            <a:ext cx="7344600" cy="73863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dirty="0">
                <a:solidFill>
                  <a:srgbClr val="0A004A"/>
                </a:solidFill>
                <a:latin typeface="DM Sans"/>
                <a:ea typeface="DM Sans"/>
                <a:cs typeface="DM Sans"/>
                <a:sym typeface="DM Sans"/>
              </a:rPr>
              <a:t>Do your findings support a null or an alternative hypothesis? </a:t>
            </a:r>
          </a:p>
          <a:p>
            <a:pPr lvl="0"/>
            <a:r>
              <a:rPr lang="en-GB" sz="1800" dirty="0"/>
              <a:t>Our findings support the </a:t>
            </a:r>
            <a:r>
              <a:rPr lang="en-GB" sz="1800" b="1" dirty="0"/>
              <a:t>alternative hypothesis (H₁)</a:t>
            </a:r>
            <a:r>
              <a:rPr lang="en-GB" sz="1800" dirty="0"/>
              <a:t>.</a:t>
            </a:r>
            <a:endParaRPr sz="1800" dirty="0">
              <a:solidFill>
                <a:srgbClr val="0A004A"/>
              </a:solidFill>
              <a:latin typeface="DM Sans"/>
              <a:ea typeface="DM Sans"/>
              <a:cs typeface="DM Sans"/>
              <a:sym typeface="DM Sans"/>
            </a:endParaRPr>
          </a:p>
        </p:txBody>
      </p:sp>
      <p:sp>
        <p:nvSpPr>
          <p:cNvPr id="183" name="Google Shape;183;p28"/>
          <p:cNvSpPr txBox="1"/>
          <p:nvPr/>
        </p:nvSpPr>
        <p:spPr>
          <a:xfrm>
            <a:off x="214264" y="2322208"/>
            <a:ext cx="8484000" cy="24735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rmAutofit/>
          </a:bodyPr>
          <a:lstStyle/>
          <a:p>
            <a:pPr marL="0" lvl="0" indent="0" algn="l" rtl="0">
              <a:spcBef>
                <a:spcPts val="0"/>
              </a:spcBef>
              <a:spcAft>
                <a:spcPts val="0"/>
              </a:spcAft>
              <a:buNone/>
            </a:pPr>
            <a:r>
              <a:rPr lang="en" sz="1800" dirty="0">
                <a:solidFill>
                  <a:srgbClr val="0A004A"/>
                </a:solidFill>
                <a:latin typeface="DM Sans"/>
                <a:ea typeface="DM Sans"/>
                <a:cs typeface="DM Sans"/>
                <a:sym typeface="DM Sans"/>
              </a:rPr>
              <a:t>What’s your conclusion about your main hypothesis? Is there a difference, and is it what your hypothesis predicted?</a:t>
            </a:r>
          </a:p>
          <a:p>
            <a:pPr marL="0" lvl="0" indent="0" algn="l" rtl="0">
              <a:spcBef>
                <a:spcPts val="0"/>
              </a:spcBef>
              <a:spcAft>
                <a:spcPts val="0"/>
              </a:spcAft>
              <a:buNone/>
            </a:pPr>
            <a:endParaRPr lang="en" sz="1800" dirty="0">
              <a:solidFill>
                <a:srgbClr val="0A004A"/>
              </a:solidFill>
              <a:latin typeface="DM Sans"/>
              <a:ea typeface="DM Sans"/>
              <a:cs typeface="DM Sans"/>
              <a:sym typeface="DM Sans"/>
            </a:endParaRPr>
          </a:p>
          <a:p>
            <a:pPr lvl="0"/>
            <a:r>
              <a:rPr lang="en-GB" sz="1600" dirty="0"/>
              <a:t>The results show a statistically significant difference between Facebook and AdWords conversions.</a:t>
            </a:r>
            <a:br>
              <a:rPr lang="en-GB" sz="1600" dirty="0"/>
            </a:br>
            <a:r>
              <a:rPr lang="en-GB" sz="1600" dirty="0"/>
              <a:t>Since the p-value (&lt; 0.001) is much smaller than α = 0.05, we reject the null hypothesis.</a:t>
            </a:r>
            <a:br>
              <a:rPr lang="en-GB" sz="1600" dirty="0"/>
            </a:br>
            <a:r>
              <a:rPr lang="en-GB" sz="1600" dirty="0"/>
              <a:t>This means Facebook ads lead to more conversions than AdWords, supporting our original hypothesis that Facebook performs better.</a:t>
            </a:r>
            <a:endParaRPr sz="1600" dirty="0">
              <a:solidFill>
                <a:srgbClr val="0A004A"/>
              </a:solidFill>
              <a:latin typeface="DM Sans"/>
              <a:ea typeface="DM Sans"/>
              <a:cs typeface="DM Sans"/>
              <a:sym typeface="DM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a:t>Determining a Model</a:t>
            </a:r>
            <a:endParaRPr sz="2800"/>
          </a:p>
        </p:txBody>
      </p:sp>
      <p:sp>
        <p:nvSpPr>
          <p:cNvPr id="194" name="Google Shape;194;p30"/>
          <p:cNvSpPr txBox="1">
            <a:spLocks noGrp="1"/>
          </p:cNvSpPr>
          <p:nvPr>
            <p:ph type="body" idx="1"/>
          </p:nvPr>
        </p:nvSpPr>
        <p:spPr>
          <a:xfrm>
            <a:off x="311700" y="1152475"/>
            <a:ext cx="85206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200"/>
              </a:spcAft>
              <a:buNone/>
            </a:pPr>
            <a:r>
              <a:rPr lang="en" sz="1600"/>
              <a:t>Based off what you know so far, you’ll need to determine if your data meets the assumptions for a chosen model. Including:</a:t>
            </a:r>
            <a:endParaRPr sz="1600"/>
          </a:p>
        </p:txBody>
      </p:sp>
      <p:sp>
        <p:nvSpPr>
          <p:cNvPr id="195" name="Google Shape;195;p30" descr="Answer question, &quot;Which model makes the most sense to use and why?&quot;"/>
          <p:cNvSpPr txBox="1"/>
          <p:nvPr/>
        </p:nvSpPr>
        <p:spPr>
          <a:xfrm>
            <a:off x="311700" y="1866775"/>
            <a:ext cx="8110800" cy="2886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rmAutofit/>
          </a:bodyPr>
          <a:lstStyle/>
          <a:p>
            <a:pPr marL="0" lvl="0" indent="0" algn="l" rtl="0">
              <a:spcBef>
                <a:spcPts val="0"/>
              </a:spcBef>
              <a:spcAft>
                <a:spcPts val="0"/>
              </a:spcAft>
              <a:buNone/>
            </a:pPr>
            <a:r>
              <a:rPr lang="en" sz="1800" dirty="0">
                <a:solidFill>
                  <a:srgbClr val="0A004A"/>
                </a:solidFill>
                <a:latin typeface="DM Sans"/>
                <a:ea typeface="DM Sans"/>
                <a:cs typeface="DM Sans"/>
                <a:sym typeface="DM Sans"/>
              </a:rPr>
              <a:t>Which model makes the most sense to use and why? </a:t>
            </a:r>
          </a:p>
          <a:p>
            <a:pPr marL="0" lvl="0" indent="0" algn="l" rtl="0">
              <a:spcBef>
                <a:spcPts val="0"/>
              </a:spcBef>
              <a:spcAft>
                <a:spcPts val="0"/>
              </a:spcAft>
              <a:buNone/>
            </a:pPr>
            <a:endParaRPr lang="en" sz="1800" dirty="0">
              <a:solidFill>
                <a:srgbClr val="0A004A"/>
              </a:solidFill>
              <a:latin typeface="DM Sans"/>
              <a:ea typeface="DM Sans"/>
              <a:cs typeface="DM Sans"/>
              <a:sym typeface="DM Sans"/>
            </a:endParaRPr>
          </a:p>
          <a:p>
            <a:r>
              <a:rPr lang="en-GB" sz="1800" dirty="0"/>
              <a:t>The </a:t>
            </a:r>
            <a:r>
              <a:rPr lang="en-GB" sz="1800" b="1" dirty="0"/>
              <a:t>Simple Linear Regression</a:t>
            </a:r>
            <a:r>
              <a:rPr lang="en-GB" sz="1800" dirty="0"/>
              <a:t> model makes the most sense to use because it predicts one quantitative variable (Facebook Ad Conversions) from another quantitative variable (Facebook Ad Clicks).</a:t>
            </a:r>
          </a:p>
          <a:p>
            <a:r>
              <a:rPr lang="en-GB" sz="1800" dirty="0"/>
              <a:t>This model fits the purpose of the analysis — determining how many conversions can be expected given a certain number of clicks.</a:t>
            </a:r>
          </a:p>
          <a:p>
            <a:r>
              <a:rPr lang="en-GB" sz="1800" dirty="0"/>
              <a:t>The data meets the model’s assumptions, including linearity, independence, and a sufficient sample size, making it appropriate for this question.</a:t>
            </a:r>
          </a:p>
          <a:p>
            <a:pPr marL="0" lvl="0" indent="0" algn="l" rtl="0">
              <a:spcBef>
                <a:spcPts val="0"/>
              </a:spcBef>
              <a:spcAft>
                <a:spcPts val="0"/>
              </a:spcAft>
              <a:buNone/>
            </a:pPr>
            <a:endParaRPr sz="1800" dirty="0">
              <a:solidFill>
                <a:srgbClr val="0A004A"/>
              </a:solidFill>
              <a:latin typeface="DM Sans"/>
              <a:ea typeface="DM Sans"/>
              <a:cs typeface="DM Sans"/>
              <a:sym typeface="DM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a:t>Modeling</a:t>
            </a:r>
            <a:endParaRPr sz="2800"/>
          </a:p>
        </p:txBody>
      </p:sp>
      <p:sp>
        <p:nvSpPr>
          <p:cNvPr id="201" name="Google Shape;201;p31"/>
          <p:cNvSpPr txBox="1">
            <a:spLocks noGrp="1"/>
          </p:cNvSpPr>
          <p:nvPr>
            <p:ph type="body" idx="1"/>
          </p:nvPr>
        </p:nvSpPr>
        <p:spPr>
          <a:xfrm>
            <a:off x="311700" y="1152475"/>
            <a:ext cx="8520600" cy="431100"/>
          </a:xfrm>
          <a:prstGeom prst="rect">
            <a:avLst/>
          </a:prstGeom>
        </p:spPr>
        <p:txBody>
          <a:bodyPr spcFirstLastPara="1" wrap="square" lIns="91425" tIns="91425" rIns="91425" bIns="91425" anchor="t" anchorCtr="0">
            <a:spAutoFit/>
          </a:bodyPr>
          <a:lstStyle/>
          <a:p>
            <a:pPr marL="0" lvl="0" indent="0" algn="l" rtl="0">
              <a:spcBef>
                <a:spcPts val="0"/>
              </a:spcBef>
              <a:spcAft>
                <a:spcPts val="1200"/>
              </a:spcAft>
              <a:buNone/>
            </a:pPr>
            <a:r>
              <a:rPr lang="en" sz="1600" dirty="0"/>
              <a:t>Finally, include a visualization of your complete model. </a:t>
            </a:r>
            <a:endParaRPr sz="1600" dirty="0"/>
          </a:p>
        </p:txBody>
      </p:sp>
      <p:pic>
        <p:nvPicPr>
          <p:cNvPr id="3" name="Picture 2" descr="A graph with a line graph&#10;&#10;AI-generated content may be incorrect.">
            <a:extLst>
              <a:ext uri="{FF2B5EF4-FFF2-40B4-BE49-F238E27FC236}">
                <a16:creationId xmlns:a16="http://schemas.microsoft.com/office/drawing/2014/main" id="{57F0BD8A-92F6-CCC4-CC26-9FD17C22E53A}"/>
              </a:ext>
            </a:extLst>
          </p:cNvPr>
          <p:cNvPicPr>
            <a:picLocks noChangeAspect="1"/>
          </p:cNvPicPr>
          <p:nvPr/>
        </p:nvPicPr>
        <p:blipFill>
          <a:blip r:embed="rId3"/>
          <a:stretch>
            <a:fillRect/>
          </a:stretch>
        </p:blipFill>
        <p:spPr>
          <a:xfrm>
            <a:off x="0" y="1017725"/>
            <a:ext cx="9144001" cy="412577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578D7-84A6-98FC-47F8-81CD900B1B0F}"/>
              </a:ext>
            </a:extLst>
          </p:cNvPr>
          <p:cNvSpPr>
            <a:spLocks noGrp="1"/>
          </p:cNvSpPr>
          <p:nvPr>
            <p:ph type="title"/>
          </p:nvPr>
        </p:nvSpPr>
        <p:spPr/>
        <p:txBody>
          <a:bodyPr>
            <a:normAutofit fontScale="90000"/>
          </a:bodyPr>
          <a:lstStyle/>
          <a:p>
            <a:r>
              <a:rPr lang="en-GB" dirty="0"/>
              <a:t>Summary</a:t>
            </a:r>
          </a:p>
        </p:txBody>
      </p:sp>
      <p:sp>
        <p:nvSpPr>
          <p:cNvPr id="3" name="Text Placeholder 2">
            <a:extLst>
              <a:ext uri="{FF2B5EF4-FFF2-40B4-BE49-F238E27FC236}">
                <a16:creationId xmlns:a16="http://schemas.microsoft.com/office/drawing/2014/main" id="{7865E589-2CDB-03C3-AF48-7B6305307988}"/>
              </a:ext>
            </a:extLst>
          </p:cNvPr>
          <p:cNvSpPr>
            <a:spLocks noGrp="1"/>
          </p:cNvSpPr>
          <p:nvPr>
            <p:ph type="body" idx="1"/>
          </p:nvPr>
        </p:nvSpPr>
        <p:spPr/>
        <p:txBody>
          <a:bodyPr>
            <a:normAutofit/>
          </a:bodyPr>
          <a:lstStyle/>
          <a:p>
            <a:r>
              <a:rPr lang="en-GB" sz="1400" dirty="0"/>
              <a:t>This project analysed the relationship between </a:t>
            </a:r>
            <a:r>
              <a:rPr lang="en-GB" sz="1400" b="1" dirty="0"/>
              <a:t>ad clicks</a:t>
            </a:r>
            <a:r>
              <a:rPr lang="en-GB" sz="1400" dirty="0"/>
              <a:t> and </a:t>
            </a:r>
            <a:r>
              <a:rPr lang="en-GB" sz="1400" b="1" dirty="0"/>
              <a:t>conversions</a:t>
            </a:r>
            <a:r>
              <a:rPr lang="en-GB" sz="1400" dirty="0"/>
              <a:t> for Facebook and Google AdWords campaigns.</a:t>
            </a:r>
          </a:p>
          <a:p>
            <a:r>
              <a:rPr lang="en-GB" sz="1400" dirty="0"/>
              <a:t>Through </a:t>
            </a:r>
            <a:r>
              <a:rPr lang="en-GB" sz="1400" b="1" dirty="0"/>
              <a:t>data cleaning, visualization, and regression modelling</a:t>
            </a:r>
            <a:r>
              <a:rPr lang="en-GB" sz="1400" dirty="0"/>
              <a:t>, we identified clear positive correlations between ad engagement and conversion outcomes.</a:t>
            </a:r>
          </a:p>
          <a:p>
            <a:r>
              <a:rPr lang="en-GB" sz="1400" b="1" dirty="0"/>
              <a:t>Facebook Ads</a:t>
            </a:r>
            <a:r>
              <a:rPr lang="en-GB" sz="1400" dirty="0"/>
              <a:t> demonstrated slightly stronger predictive power for conversions compared to </a:t>
            </a:r>
            <a:r>
              <a:rPr lang="en-GB" sz="1400" b="1" dirty="0"/>
              <a:t>AdWords</a:t>
            </a:r>
            <a:r>
              <a:rPr lang="en-GB" sz="1400" dirty="0"/>
              <a:t>, indicating higher ROI potential in this dataset.</a:t>
            </a:r>
          </a:p>
          <a:p>
            <a:r>
              <a:rPr lang="en-GB" sz="1400" dirty="0"/>
              <a:t>The model visualization confirmed that </a:t>
            </a:r>
            <a:r>
              <a:rPr lang="en-GB" sz="1400" b="1" dirty="0"/>
              <a:t>increased clicks consistently led to higher conversions</a:t>
            </a:r>
            <a:r>
              <a:rPr lang="en-GB" sz="1400" dirty="0"/>
              <a:t>, validating ad effectiveness.</a:t>
            </a:r>
          </a:p>
          <a:p>
            <a:r>
              <a:rPr lang="en-GB" sz="1400" dirty="0"/>
              <a:t>These insights can help marketing teams </a:t>
            </a:r>
            <a:r>
              <a:rPr lang="en-GB" sz="1400" b="1" dirty="0"/>
              <a:t>optimize budget allocation</a:t>
            </a:r>
            <a:r>
              <a:rPr lang="en-GB" sz="1400" dirty="0"/>
              <a:t> and </a:t>
            </a:r>
            <a:r>
              <a:rPr lang="en-GB" sz="1400" b="1" dirty="0"/>
              <a:t>improve future campaign strategies</a:t>
            </a:r>
            <a:r>
              <a:rPr lang="en-GB" sz="1400" dirty="0"/>
              <a:t>.</a:t>
            </a:r>
          </a:p>
          <a:p>
            <a:r>
              <a:rPr lang="en-GB" sz="1400" dirty="0"/>
              <a:t>The project demonstrated key statistical skills, including </a:t>
            </a:r>
            <a:r>
              <a:rPr lang="en-GB" sz="1400" b="1" dirty="0"/>
              <a:t>data exploration, hypothesis testing, and linear regression modelling</a:t>
            </a:r>
            <a:r>
              <a:rPr lang="en-GB" sz="1400" dirty="0"/>
              <a:t>.</a:t>
            </a:r>
          </a:p>
          <a:p>
            <a:endParaRPr lang="en-GB" dirty="0"/>
          </a:p>
        </p:txBody>
      </p:sp>
    </p:spTree>
    <p:extLst>
      <p:ext uri="{BB962C8B-B14F-4D97-AF65-F5344CB8AC3E}">
        <p14:creationId xmlns:p14="http://schemas.microsoft.com/office/powerpoint/2010/main" val="21588763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7CAC8-39D9-2673-3C47-F8EC42C7B644}"/>
              </a:ext>
            </a:extLst>
          </p:cNvPr>
          <p:cNvSpPr>
            <a:spLocks noGrp="1"/>
          </p:cNvSpPr>
          <p:nvPr>
            <p:ph type="title"/>
          </p:nvPr>
        </p:nvSpPr>
        <p:spPr/>
        <p:txBody>
          <a:bodyPr>
            <a:normAutofit fontScale="90000"/>
          </a:bodyPr>
          <a:lstStyle/>
          <a:p>
            <a:r>
              <a:rPr lang="en-GB" b="1" dirty="0"/>
              <a:t>Final Recommendations</a:t>
            </a:r>
            <a:r>
              <a:rPr lang="en-GB" dirty="0"/>
              <a:t> </a:t>
            </a:r>
          </a:p>
        </p:txBody>
      </p:sp>
      <p:sp>
        <p:nvSpPr>
          <p:cNvPr id="4" name="Rectangle 1">
            <a:extLst>
              <a:ext uri="{FF2B5EF4-FFF2-40B4-BE49-F238E27FC236}">
                <a16:creationId xmlns:a16="http://schemas.microsoft.com/office/drawing/2014/main" id="{DC029D59-818F-3F95-0A6B-2EE0E4908B81}"/>
              </a:ext>
            </a:extLst>
          </p:cNvPr>
          <p:cNvSpPr>
            <a:spLocks noGrp="1" noChangeArrowheads="1"/>
          </p:cNvSpPr>
          <p:nvPr>
            <p:ph type="body" idx="1"/>
          </p:nvPr>
        </p:nvSpPr>
        <p:spPr bwMode="auto">
          <a:xfrm>
            <a:off x="0" y="2306677"/>
            <a:ext cx="9152582"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Prioritize Facebook Ads</a:t>
            </a:r>
            <a:r>
              <a:rPr kumimoji="0" lang="en-US" altLang="en-US" sz="1100" b="0" i="0" u="none" strike="noStrike" cap="none" normalizeH="0" baseline="0" dirty="0">
                <a:ln>
                  <a:noFill/>
                </a:ln>
                <a:solidFill>
                  <a:schemeClr val="tx1"/>
                </a:solidFill>
                <a:effectLst/>
                <a:latin typeface="Arial" panose="020B0604020202020204" pitchFamily="34" charset="0"/>
              </a:rPr>
              <a:t> for campaigns focused on conversions, as results indicate a stronger relationship between clicks and outcomes.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Reallocate budget</a:t>
            </a:r>
            <a:r>
              <a:rPr kumimoji="0" lang="en-US" altLang="en-US" sz="1100" b="0" i="0" u="none" strike="noStrike" cap="none" normalizeH="0" baseline="0" dirty="0">
                <a:ln>
                  <a:noFill/>
                </a:ln>
                <a:solidFill>
                  <a:schemeClr val="tx1"/>
                </a:solidFill>
                <a:effectLst/>
                <a:latin typeface="Arial" panose="020B0604020202020204" pitchFamily="34" charset="0"/>
              </a:rPr>
              <a:t> strategically — invest slightly more in Facebook while maintaining a testing budget for AdWords optimization.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Continue monitoring ad metrics</a:t>
            </a:r>
            <a:r>
              <a:rPr kumimoji="0" lang="en-US" altLang="en-US" sz="1100" b="0" i="0" u="none" strike="noStrike" cap="none" normalizeH="0" baseline="0" dirty="0">
                <a:ln>
                  <a:noFill/>
                </a:ln>
                <a:solidFill>
                  <a:schemeClr val="tx1"/>
                </a:solidFill>
                <a:effectLst/>
                <a:latin typeface="Arial" panose="020B0604020202020204" pitchFamily="34" charset="0"/>
              </a:rPr>
              <a:t> (clicks, conversions, cost per acquisition) to validate trends over time.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Arial" panose="020B0604020202020204" pitchFamily="34" charset="0"/>
              </a:rPr>
              <a:t>Implement </a:t>
            </a:r>
            <a:r>
              <a:rPr kumimoji="0" lang="en-US" altLang="en-US" sz="1100" b="1" i="0" u="none" strike="noStrike" cap="none" normalizeH="0" baseline="0" dirty="0">
                <a:ln>
                  <a:noFill/>
                </a:ln>
                <a:solidFill>
                  <a:schemeClr val="tx1"/>
                </a:solidFill>
                <a:effectLst/>
                <a:latin typeface="Arial" panose="020B0604020202020204" pitchFamily="34" charset="0"/>
              </a:rPr>
              <a:t>A/B testing</a:t>
            </a:r>
            <a:r>
              <a:rPr kumimoji="0" lang="en-US" altLang="en-US" sz="1100" b="0" i="0" u="none" strike="noStrike" cap="none" normalizeH="0" baseline="0" dirty="0">
                <a:ln>
                  <a:noFill/>
                </a:ln>
                <a:solidFill>
                  <a:schemeClr val="tx1"/>
                </a:solidFill>
                <a:effectLst/>
                <a:latin typeface="Arial" panose="020B0604020202020204" pitchFamily="34" charset="0"/>
              </a:rPr>
              <a:t> on ad creatives and targeting strategies to further improve conversion rates.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Expand data collection</a:t>
            </a:r>
            <a:r>
              <a:rPr kumimoji="0" lang="en-US" altLang="en-US" sz="1100" b="0" i="0" u="none" strike="noStrike" cap="none" normalizeH="0" baseline="0" dirty="0">
                <a:ln>
                  <a:noFill/>
                </a:ln>
                <a:solidFill>
                  <a:schemeClr val="tx1"/>
                </a:solidFill>
                <a:effectLst/>
                <a:latin typeface="Arial" panose="020B0604020202020204" pitchFamily="34" charset="0"/>
              </a:rPr>
              <a:t> to include demographic and device-level insights for deeper performance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Arial" panose="020B0604020202020204" pitchFamily="34" charset="0"/>
              </a:rPr>
              <a:t>Maintain a </a:t>
            </a:r>
            <a:r>
              <a:rPr kumimoji="0" lang="en-US" altLang="en-US" sz="1100" b="1" i="0" u="none" strike="noStrike" cap="none" normalizeH="0" baseline="0" dirty="0">
                <a:ln>
                  <a:noFill/>
                </a:ln>
                <a:solidFill>
                  <a:schemeClr val="tx1"/>
                </a:solidFill>
                <a:effectLst/>
                <a:latin typeface="Arial" panose="020B0604020202020204" pitchFamily="34" charset="0"/>
              </a:rPr>
              <a:t>data-driven decision process</a:t>
            </a:r>
            <a:r>
              <a:rPr kumimoji="0" lang="en-US" altLang="en-US" sz="1100" b="0" i="0" u="none" strike="noStrike" cap="none" normalizeH="0" baseline="0" dirty="0">
                <a:ln>
                  <a:noFill/>
                </a:ln>
                <a:solidFill>
                  <a:schemeClr val="tx1"/>
                </a:solidFill>
                <a:effectLst/>
                <a:latin typeface="Arial" panose="020B0604020202020204" pitchFamily="34" charset="0"/>
              </a:rPr>
              <a:t>, using regression and visualization tools for regular campaign evaluations.</a:t>
            </a:r>
          </a:p>
        </p:txBody>
      </p:sp>
    </p:spTree>
    <p:extLst>
      <p:ext uri="{BB962C8B-B14F-4D97-AF65-F5344CB8AC3E}">
        <p14:creationId xmlns:p14="http://schemas.microsoft.com/office/powerpoint/2010/main" val="15109029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a:t>Final Insights</a:t>
            </a:r>
            <a:endParaRPr sz="2800"/>
          </a:p>
        </p:txBody>
      </p:sp>
      <p:sp>
        <p:nvSpPr>
          <p:cNvPr id="213" name="Google Shape;213;p33"/>
          <p:cNvSpPr txBox="1">
            <a:spLocks noGrp="1"/>
          </p:cNvSpPr>
          <p:nvPr>
            <p:ph type="body" idx="1"/>
          </p:nvPr>
        </p:nvSpPr>
        <p:spPr>
          <a:xfrm>
            <a:off x="311700" y="1152475"/>
            <a:ext cx="85206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200"/>
              </a:spcAft>
              <a:buNone/>
            </a:pPr>
            <a:r>
              <a:rPr lang="en" sz="1600"/>
              <a:t>Now, knowing what you do about the results of your test, what are the final insights that you would share with your client? What did you learn and what would you recommend? Is there anything you would do differently next time?</a:t>
            </a:r>
            <a:endParaRPr sz="1600"/>
          </a:p>
        </p:txBody>
      </p:sp>
      <p:sp>
        <p:nvSpPr>
          <p:cNvPr id="214" name="Google Shape;214;p33" descr="Enter your insights here&#10;"/>
          <p:cNvSpPr txBox="1"/>
          <p:nvPr/>
        </p:nvSpPr>
        <p:spPr>
          <a:xfrm>
            <a:off x="311700" y="2149975"/>
            <a:ext cx="8520600" cy="27705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rmAutofit/>
          </a:bodyPr>
          <a:lstStyle/>
          <a:p>
            <a:pPr marL="0" lvl="0" indent="0" algn="l" rtl="0">
              <a:spcBef>
                <a:spcPts val="0"/>
              </a:spcBef>
              <a:spcAft>
                <a:spcPts val="0"/>
              </a:spcAft>
              <a:buNone/>
            </a:pPr>
            <a:r>
              <a:rPr lang="en" sz="1200" dirty="0">
                <a:solidFill>
                  <a:srgbClr val="0A004A"/>
                </a:solidFill>
                <a:latin typeface="DM Sans"/>
                <a:ea typeface="DM Sans"/>
                <a:cs typeface="DM Sans"/>
                <a:sym typeface="DM Sans"/>
              </a:rPr>
              <a:t>Enter your insights here:</a:t>
            </a:r>
          </a:p>
          <a:p>
            <a:pPr marL="0" lvl="0" indent="0" algn="l" rtl="0">
              <a:spcBef>
                <a:spcPts val="0"/>
              </a:spcBef>
              <a:spcAft>
                <a:spcPts val="0"/>
              </a:spcAft>
              <a:buNone/>
            </a:pPr>
            <a:endParaRPr lang="en" sz="1200" dirty="0">
              <a:solidFill>
                <a:srgbClr val="0A004A"/>
              </a:solidFill>
              <a:latin typeface="DM Sans"/>
              <a:ea typeface="DM Sans"/>
              <a:cs typeface="DM Sans"/>
              <a:sym typeface="DM Sans"/>
            </a:endParaRPr>
          </a:p>
          <a:p>
            <a:r>
              <a:rPr lang="en-GB" sz="1200" dirty="0"/>
              <a:t>The Simple Linear Regression model shows a strong positive relationship between Facebook Ad Clicks and Facebook Ad Conversions, meaning that as the number of clicks increases, conversions also increase.</a:t>
            </a:r>
          </a:p>
          <a:p>
            <a:r>
              <a:rPr lang="en-GB" sz="1200" dirty="0"/>
              <a:t>Based on the model, we can expect approximately </a:t>
            </a:r>
            <a:r>
              <a:rPr lang="en-GB" sz="1200" b="1" dirty="0"/>
              <a:t>12–13 conversions for 50 Facebook Ad clicks</a:t>
            </a:r>
            <a:r>
              <a:rPr lang="en-GB" sz="1200" dirty="0"/>
              <a:t>. This indicates that Facebook Ads are performing efficiently in generating conversions.</a:t>
            </a:r>
          </a:p>
          <a:p>
            <a:r>
              <a:rPr lang="en-GB" sz="1200" dirty="0"/>
              <a:t>I would recommend continuing to invest in Facebook Ads, while also testing different ad creatives or targeting strategies to see if conversion rates can improve even further.</a:t>
            </a:r>
          </a:p>
          <a:p>
            <a:r>
              <a:rPr lang="en-GB" sz="1200" dirty="0"/>
              <a:t>For future analyses, I would consider adding more time-based data to explore seasonal effects or running a Time Series model to forecast future performance trends.</a:t>
            </a:r>
          </a:p>
          <a:p>
            <a:pPr marL="0" lvl="0" indent="0" algn="l" rtl="0">
              <a:spcBef>
                <a:spcPts val="0"/>
              </a:spcBef>
              <a:spcAft>
                <a:spcPts val="0"/>
              </a:spcAft>
              <a:buNone/>
            </a:pPr>
            <a:endParaRPr sz="1200" dirty="0">
              <a:solidFill>
                <a:srgbClr val="0A004A"/>
              </a:solidFill>
              <a:latin typeface="DM Sans"/>
              <a:ea typeface="DM Sans"/>
              <a:cs typeface="DM Sans"/>
              <a:sym typeface="DM Sans"/>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Slice</Template>
  <TotalTime>0</TotalTime>
  <Words>1369</Words>
  <Application>Microsoft Office PowerPoint</Application>
  <PresentationFormat>On-screen Show (16:9)</PresentationFormat>
  <Paragraphs>111</Paragraphs>
  <Slides>18</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DM Sans</vt:lpstr>
      <vt:lpstr>Century Gothic</vt:lpstr>
      <vt:lpstr>Simple Light</vt:lpstr>
      <vt:lpstr>Course Capstone Project</vt:lpstr>
      <vt:lpstr>Finding the Middle</vt:lpstr>
      <vt:lpstr>Finding the Middle</vt:lpstr>
      <vt:lpstr>Standard Deviation</vt:lpstr>
      <vt:lpstr>Frequency and Contingency Tables</vt:lpstr>
      <vt:lpstr>Scatter Plot</vt:lpstr>
      <vt:lpstr>Sample Type</vt:lpstr>
      <vt:lpstr>Module 2: Sample Type</vt:lpstr>
      <vt:lpstr>Variable Types</vt:lpstr>
      <vt:lpstr>Question and Hypothesis</vt:lpstr>
      <vt:lpstr>Question and Hypothesis</vt:lpstr>
      <vt:lpstr>Running a Test</vt:lpstr>
      <vt:lpstr>Hypothesis </vt:lpstr>
      <vt:lpstr>Determining a Model</vt:lpstr>
      <vt:lpstr>Modeling</vt:lpstr>
      <vt:lpstr>Summary</vt:lpstr>
      <vt:lpstr>Final Recommendations </vt:lpstr>
      <vt:lpstr>Final Insights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andrejs verhovods</cp:lastModifiedBy>
  <cp:revision>4</cp:revision>
  <dcterms:modified xsi:type="dcterms:W3CDTF">2025-11-07T10:59:08Z</dcterms:modified>
</cp:coreProperties>
</file>